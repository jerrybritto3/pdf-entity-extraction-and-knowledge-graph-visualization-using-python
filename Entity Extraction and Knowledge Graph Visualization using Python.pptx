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8" r:id="rId1"/>
  </p:sldMasterIdLst>
  <p:sldIdLst>
    <p:sldId id="256" r:id="rId2"/>
    <p:sldId id="257" r:id="rId3"/>
    <p:sldId id="258" r:id="rId4"/>
    <p:sldId id="260" r:id="rId5"/>
    <p:sldId id="259" r:id="rId6"/>
    <p:sldId id="261" r:id="rId7"/>
    <p:sldId id="270" r:id="rId8"/>
    <p:sldId id="263" r:id="rId9"/>
    <p:sldId id="271" r:id="rId10"/>
    <p:sldId id="264" r:id="rId11"/>
    <p:sldId id="265" r:id="rId12"/>
    <p:sldId id="266" r:id="rId13"/>
    <p:sldId id="268"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erry Britto" initials="JB" lastIdx="1" clrIdx="0">
    <p:extLst>
      <p:ext uri="{19B8F6BF-5375-455C-9EA6-DF929625EA0E}">
        <p15:presenceInfo xmlns:p15="http://schemas.microsoft.com/office/powerpoint/2012/main" userId="403ca979a1fb398c"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2E5369"/>
    <a:srgbClr val="C6DFE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7994" autoAdjust="0"/>
    <p:restoredTop sz="96702" autoAdjust="0"/>
  </p:normalViewPr>
  <p:slideViewPr>
    <p:cSldViewPr snapToGrid="0">
      <p:cViewPr varScale="1">
        <p:scale>
          <a:sx n="126" d="100"/>
          <a:sy n="126" d="100"/>
        </p:scale>
        <p:origin x="432"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8024149-B39F-4B40-9A4D-0179A9EB32D2}" type="datetimeFigureOut">
              <a:rPr lang="en-IN" smtClean="0"/>
              <a:t>08-02-2026</a:t>
            </a:fld>
            <a:endParaRPr lang="en-IN"/>
          </a:p>
        </p:txBody>
      </p:sp>
      <p:sp>
        <p:nvSpPr>
          <p:cNvPr id="5" name="Footer Placeholder 4"/>
          <p:cNvSpPr>
            <a:spLocks noGrp="1"/>
          </p:cNvSpPr>
          <p:nvPr>
            <p:ph type="ftr" sz="quarter" idx="11"/>
          </p:nvPr>
        </p:nvSpPr>
        <p:spPr/>
        <p:txBody>
          <a:bodyPr/>
          <a:lstStyle/>
          <a:p>
            <a:endParaRPr lang="en-IN"/>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txBody>
          <a:bodyPr/>
          <a:lstStyle/>
          <a:p>
            <a:endParaRPr lang="en-IN"/>
          </a:p>
        </p:txBody>
      </p:sp>
      <p:sp>
        <p:nvSpPr>
          <p:cNvPr id="6" name="Slide Number Placeholder 5"/>
          <p:cNvSpPr>
            <a:spLocks noGrp="1"/>
          </p:cNvSpPr>
          <p:nvPr>
            <p:ph type="sldNum" sz="quarter" idx="12"/>
          </p:nvPr>
        </p:nvSpPr>
        <p:spPr>
          <a:xfrm>
            <a:off x="531812" y="4529540"/>
            <a:ext cx="779767" cy="365125"/>
          </a:xfrm>
        </p:spPr>
        <p:txBody>
          <a:bodyPr/>
          <a:lstStyle/>
          <a:p>
            <a:fld id="{CB34262D-DE52-4EF9-B005-BF801CBA44FC}" type="slidenum">
              <a:rPr lang="en-IN" smtClean="0"/>
              <a:t>‹#›</a:t>
            </a:fld>
            <a:endParaRPr lang="en-IN"/>
          </a:p>
        </p:txBody>
      </p:sp>
    </p:spTree>
    <p:extLst>
      <p:ext uri="{BB962C8B-B14F-4D97-AF65-F5344CB8AC3E}">
        <p14:creationId xmlns:p14="http://schemas.microsoft.com/office/powerpoint/2010/main" val="38809097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8024149-B39F-4B40-9A4D-0179A9EB32D2}" type="datetimeFigureOut">
              <a:rPr lang="en-IN" smtClean="0"/>
              <a:t>08-02-2026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IN"/>
          </a:p>
        </p:txBody>
      </p:sp>
      <p:sp>
        <p:nvSpPr>
          <p:cNvPr id="6" name="Slide Number Placeholder 5"/>
          <p:cNvSpPr>
            <a:spLocks noGrp="1"/>
          </p:cNvSpPr>
          <p:nvPr>
            <p:ph type="sldNum" sz="quarter" idx="12"/>
          </p:nvPr>
        </p:nvSpPr>
        <p:spPr/>
        <p:txBody>
          <a:bodyPr/>
          <a:lstStyle/>
          <a:p>
            <a:fld id="{CB34262D-DE52-4EF9-B005-BF801CBA44FC}" type="slidenum">
              <a:rPr lang="en-IN" smtClean="0"/>
              <a:t>‹#›</a:t>
            </a:fld>
            <a:endParaRPr lang="en-IN"/>
          </a:p>
        </p:txBody>
      </p:sp>
    </p:spTree>
    <p:extLst>
      <p:ext uri="{BB962C8B-B14F-4D97-AF65-F5344CB8AC3E}">
        <p14:creationId xmlns:p14="http://schemas.microsoft.com/office/powerpoint/2010/main" val="26043062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8024149-B39F-4B40-9A4D-0179A9EB32D2}" type="datetimeFigureOut">
              <a:rPr lang="en-IN" smtClean="0"/>
              <a:t>08-02-2026</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IN"/>
          </a:p>
        </p:txBody>
      </p:sp>
      <p:sp>
        <p:nvSpPr>
          <p:cNvPr id="6" name="Slide Number Placeholder 5"/>
          <p:cNvSpPr>
            <a:spLocks noGrp="1"/>
          </p:cNvSpPr>
          <p:nvPr>
            <p:ph type="sldNum" sz="quarter" idx="12"/>
          </p:nvPr>
        </p:nvSpPr>
        <p:spPr>
          <a:xfrm>
            <a:off x="531812" y="3244139"/>
            <a:ext cx="779767" cy="365125"/>
          </a:xfrm>
        </p:spPr>
        <p:txBody>
          <a:bodyPr/>
          <a:lstStyle/>
          <a:p>
            <a:fld id="{CB34262D-DE52-4EF9-B005-BF801CBA44FC}" type="slidenum">
              <a:rPr lang="en-IN" smtClean="0"/>
              <a:t>‹#›</a:t>
            </a:fld>
            <a:endParaRPr lang="en-IN"/>
          </a:p>
        </p:txBody>
      </p:sp>
    </p:spTree>
    <p:extLst>
      <p:ext uri="{BB962C8B-B14F-4D97-AF65-F5344CB8AC3E}">
        <p14:creationId xmlns:p14="http://schemas.microsoft.com/office/powerpoint/2010/main" val="39129148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8024149-B39F-4B40-9A4D-0179A9EB32D2}" type="datetimeFigureOut">
              <a:rPr lang="en-IN" smtClean="0"/>
              <a:t>08-02-2026</a:t>
            </a:fld>
            <a:endParaRPr lang="en-IN"/>
          </a:p>
        </p:txBody>
      </p:sp>
      <p:sp>
        <p:nvSpPr>
          <p:cNvPr id="6" name="Footer Placeholder 5"/>
          <p:cNvSpPr>
            <a:spLocks noGrp="1"/>
          </p:cNvSpPr>
          <p:nvPr>
            <p:ph type="ftr" sz="quarter" idx="11"/>
          </p:nvPr>
        </p:nvSpPr>
        <p:spPr/>
        <p:txBody>
          <a:bodyPr/>
          <a:lstStyle/>
          <a:p>
            <a:endParaRPr lang="en-IN"/>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IN"/>
          </a:p>
        </p:txBody>
      </p:sp>
      <p:sp>
        <p:nvSpPr>
          <p:cNvPr id="13" name="Slide Number Placeholder 5"/>
          <p:cNvSpPr>
            <a:spLocks noGrp="1"/>
          </p:cNvSpPr>
          <p:nvPr>
            <p:ph type="sldNum" sz="quarter" idx="12"/>
          </p:nvPr>
        </p:nvSpPr>
        <p:spPr>
          <a:xfrm>
            <a:off x="531812" y="787782"/>
            <a:ext cx="779767" cy="365125"/>
          </a:xfrm>
        </p:spPr>
        <p:txBody>
          <a:bodyPr/>
          <a:lstStyle/>
          <a:p>
            <a:fld id="{CB34262D-DE52-4EF9-B005-BF801CBA44FC}" type="slidenum">
              <a:rPr lang="en-IN" smtClean="0"/>
              <a:t>‹#›</a:t>
            </a:fld>
            <a:endParaRPr lang="en-IN"/>
          </a:p>
        </p:txBody>
      </p:sp>
    </p:spTree>
    <p:extLst>
      <p:ext uri="{BB962C8B-B14F-4D97-AF65-F5344CB8AC3E}">
        <p14:creationId xmlns:p14="http://schemas.microsoft.com/office/powerpoint/2010/main" val="7022653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8024149-B39F-4B40-9A4D-0179A9EB32D2}" type="datetimeFigureOut">
              <a:rPr lang="en-IN" smtClean="0"/>
              <a:t>08-02-2026</a:t>
            </a:fld>
            <a:endParaRPr lang="en-IN"/>
          </a:p>
        </p:txBody>
      </p:sp>
      <p:sp>
        <p:nvSpPr>
          <p:cNvPr id="8" name="Footer Placeholder 7"/>
          <p:cNvSpPr>
            <a:spLocks noGrp="1"/>
          </p:cNvSpPr>
          <p:nvPr>
            <p:ph type="ftr" sz="quarter" idx="11"/>
          </p:nvPr>
        </p:nvSpPr>
        <p:spPr/>
        <p:txBody>
          <a:bodyPr/>
          <a:lstStyle/>
          <a:p>
            <a:endParaRPr lang="en-IN"/>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IN"/>
          </a:p>
        </p:txBody>
      </p:sp>
      <p:sp>
        <p:nvSpPr>
          <p:cNvPr id="13" name="Slide Number Placeholder 5"/>
          <p:cNvSpPr>
            <a:spLocks noGrp="1"/>
          </p:cNvSpPr>
          <p:nvPr>
            <p:ph type="sldNum" sz="quarter" idx="12"/>
          </p:nvPr>
        </p:nvSpPr>
        <p:spPr>
          <a:xfrm>
            <a:off x="531812" y="787782"/>
            <a:ext cx="779767" cy="365125"/>
          </a:xfrm>
        </p:spPr>
        <p:txBody>
          <a:bodyPr/>
          <a:lstStyle/>
          <a:p>
            <a:fld id="{CB34262D-DE52-4EF9-B005-BF801CBA44FC}" type="slidenum">
              <a:rPr lang="en-IN" smtClean="0"/>
              <a:t>‹#›</a:t>
            </a:fld>
            <a:endParaRPr lang="en-IN"/>
          </a:p>
        </p:txBody>
      </p:sp>
    </p:spTree>
    <p:extLst>
      <p:ext uri="{BB962C8B-B14F-4D97-AF65-F5344CB8AC3E}">
        <p14:creationId xmlns:p14="http://schemas.microsoft.com/office/powerpoint/2010/main" val="19973434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8024149-B39F-4B40-9A4D-0179A9EB32D2}" type="datetimeFigureOut">
              <a:rPr lang="en-IN" smtClean="0"/>
              <a:t>08-02-2026</a:t>
            </a:fld>
            <a:endParaRPr lang="en-IN"/>
          </a:p>
        </p:txBody>
      </p:sp>
      <p:sp>
        <p:nvSpPr>
          <p:cNvPr id="4" name="Footer Placeholder 3"/>
          <p:cNvSpPr>
            <a:spLocks noGrp="1"/>
          </p:cNvSpPr>
          <p:nvPr>
            <p:ph type="ftr" sz="quarter" idx="11"/>
          </p:nvPr>
        </p:nvSpPr>
        <p:spPr/>
        <p:txBody>
          <a:bodyPr/>
          <a:lstStyle/>
          <a:p>
            <a:endParaRPr lang="en-IN"/>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IN"/>
          </a:p>
        </p:txBody>
      </p:sp>
      <p:sp>
        <p:nvSpPr>
          <p:cNvPr id="5" name="Slide Number Placeholder 4"/>
          <p:cNvSpPr>
            <a:spLocks noGrp="1"/>
          </p:cNvSpPr>
          <p:nvPr>
            <p:ph type="sldNum" sz="quarter" idx="12"/>
          </p:nvPr>
        </p:nvSpPr>
        <p:spPr/>
        <p:txBody>
          <a:bodyPr/>
          <a:lstStyle/>
          <a:p>
            <a:fld id="{CB34262D-DE52-4EF9-B005-BF801CBA44FC}" type="slidenum">
              <a:rPr lang="en-IN" smtClean="0"/>
              <a:t>‹#›</a:t>
            </a:fld>
            <a:endParaRPr lang="en-IN"/>
          </a:p>
        </p:txBody>
      </p:sp>
    </p:spTree>
    <p:extLst>
      <p:ext uri="{BB962C8B-B14F-4D97-AF65-F5344CB8AC3E}">
        <p14:creationId xmlns:p14="http://schemas.microsoft.com/office/powerpoint/2010/main" val="37158258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8024149-B39F-4B40-9A4D-0179A9EB32D2}" type="datetimeFigureOut">
              <a:rPr lang="en-IN" smtClean="0"/>
              <a:t>08-02-2026</a:t>
            </a:fld>
            <a:endParaRPr lang="en-IN"/>
          </a:p>
        </p:txBody>
      </p:sp>
      <p:sp>
        <p:nvSpPr>
          <p:cNvPr id="3" name="Footer Placeholder 2"/>
          <p:cNvSpPr>
            <a:spLocks noGrp="1"/>
          </p:cNvSpPr>
          <p:nvPr>
            <p:ph type="ftr" sz="quarter" idx="11"/>
          </p:nvPr>
        </p:nvSpPr>
        <p:spPr/>
        <p:txBody>
          <a:bodyPr/>
          <a:lstStyle/>
          <a:p>
            <a:endParaRPr lang="en-IN"/>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IN"/>
          </a:p>
        </p:txBody>
      </p:sp>
      <p:sp>
        <p:nvSpPr>
          <p:cNvPr id="4" name="Slide Number Placeholder 3"/>
          <p:cNvSpPr>
            <a:spLocks noGrp="1"/>
          </p:cNvSpPr>
          <p:nvPr>
            <p:ph type="sldNum" sz="quarter" idx="12"/>
          </p:nvPr>
        </p:nvSpPr>
        <p:spPr/>
        <p:txBody>
          <a:bodyPr/>
          <a:lstStyle/>
          <a:p>
            <a:fld id="{CB34262D-DE52-4EF9-B005-BF801CBA44FC}" type="slidenum">
              <a:rPr lang="en-IN" smtClean="0"/>
              <a:t>‹#›</a:t>
            </a:fld>
            <a:endParaRPr lang="en-IN"/>
          </a:p>
        </p:txBody>
      </p:sp>
    </p:spTree>
    <p:extLst>
      <p:ext uri="{BB962C8B-B14F-4D97-AF65-F5344CB8AC3E}">
        <p14:creationId xmlns:p14="http://schemas.microsoft.com/office/powerpoint/2010/main" val="32110389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8024149-B39F-4B40-9A4D-0179A9EB32D2}" type="datetimeFigureOut">
              <a:rPr lang="en-IN" smtClean="0"/>
              <a:t>08-02-2026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IN"/>
          </a:p>
        </p:txBody>
      </p:sp>
      <p:sp>
        <p:nvSpPr>
          <p:cNvPr id="7" name="Slide Number Placeholder 6"/>
          <p:cNvSpPr>
            <a:spLocks noGrp="1"/>
          </p:cNvSpPr>
          <p:nvPr>
            <p:ph type="sldNum" sz="quarter" idx="12"/>
          </p:nvPr>
        </p:nvSpPr>
        <p:spPr/>
        <p:txBody>
          <a:bodyPr/>
          <a:lstStyle/>
          <a:p>
            <a:fld id="{CB34262D-DE52-4EF9-B005-BF801CBA44FC}" type="slidenum">
              <a:rPr lang="en-IN" smtClean="0"/>
              <a:t>‹#›</a:t>
            </a:fld>
            <a:endParaRPr lang="en-IN"/>
          </a:p>
        </p:txBody>
      </p:sp>
    </p:spTree>
    <p:extLst>
      <p:ext uri="{BB962C8B-B14F-4D97-AF65-F5344CB8AC3E}">
        <p14:creationId xmlns:p14="http://schemas.microsoft.com/office/powerpoint/2010/main" val="21140221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8024149-B39F-4B40-9A4D-0179A9EB32D2}" type="datetimeFigureOut">
              <a:rPr lang="en-IN" smtClean="0"/>
              <a:t>08-02-2026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IN"/>
          </a:p>
        </p:txBody>
      </p:sp>
      <p:sp>
        <p:nvSpPr>
          <p:cNvPr id="7" name="Slide Number Placeholder 6"/>
          <p:cNvSpPr>
            <a:spLocks noGrp="1"/>
          </p:cNvSpPr>
          <p:nvPr>
            <p:ph type="sldNum" sz="quarter" idx="12"/>
          </p:nvPr>
        </p:nvSpPr>
        <p:spPr>
          <a:xfrm>
            <a:off x="531812" y="4983087"/>
            <a:ext cx="779767" cy="365125"/>
          </a:xfrm>
        </p:spPr>
        <p:txBody>
          <a:bodyPr/>
          <a:lstStyle/>
          <a:p>
            <a:fld id="{CB34262D-DE52-4EF9-B005-BF801CBA44FC}" type="slidenum">
              <a:rPr lang="en-IN" smtClean="0"/>
              <a:t>‹#›</a:t>
            </a:fld>
            <a:endParaRPr lang="en-IN"/>
          </a:p>
        </p:txBody>
      </p:sp>
    </p:spTree>
    <p:extLst>
      <p:ext uri="{BB962C8B-B14F-4D97-AF65-F5344CB8AC3E}">
        <p14:creationId xmlns:p14="http://schemas.microsoft.com/office/powerpoint/2010/main" val="31222857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8024149-B39F-4B40-9A4D-0179A9EB32D2}" type="datetimeFigureOut">
              <a:rPr lang="en-IN" smtClean="0"/>
              <a:t>08-02-2026</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IN"/>
          </a:p>
        </p:txBody>
      </p:sp>
      <p:sp>
        <p:nvSpPr>
          <p:cNvPr id="6" name="Slide Number Placeholder 5"/>
          <p:cNvSpPr>
            <a:spLocks noGrp="1"/>
          </p:cNvSpPr>
          <p:nvPr>
            <p:ph type="sldNum" sz="quarter" idx="12"/>
          </p:nvPr>
        </p:nvSpPr>
        <p:spPr>
          <a:xfrm>
            <a:off x="531812" y="3244139"/>
            <a:ext cx="779767" cy="365125"/>
          </a:xfrm>
        </p:spPr>
        <p:txBody>
          <a:bodyPr/>
          <a:lstStyle/>
          <a:p>
            <a:fld id="{CB34262D-DE52-4EF9-B005-BF801CBA44FC}" type="slidenum">
              <a:rPr lang="en-IN" smtClean="0"/>
              <a:t>‹#›</a:t>
            </a:fld>
            <a:endParaRPr lang="en-IN"/>
          </a:p>
        </p:txBody>
      </p:sp>
    </p:spTree>
    <p:extLst>
      <p:ext uri="{BB962C8B-B14F-4D97-AF65-F5344CB8AC3E}">
        <p14:creationId xmlns:p14="http://schemas.microsoft.com/office/powerpoint/2010/main" val="32988915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8024149-B39F-4B40-9A4D-0179A9EB32D2}" type="datetimeFigureOut">
              <a:rPr lang="en-IN" smtClean="0"/>
              <a:t>08-02-2026</a:t>
            </a:fld>
            <a:endParaRPr lang="en-IN"/>
          </a:p>
        </p:txBody>
      </p:sp>
      <p:sp>
        <p:nvSpPr>
          <p:cNvPr id="5" name="Footer Placeholder 4"/>
          <p:cNvSpPr>
            <a:spLocks noGrp="1"/>
          </p:cNvSpPr>
          <p:nvPr>
            <p:ph type="ftr" sz="quarter" idx="11"/>
          </p:nvPr>
        </p:nvSpPr>
        <p:spPr/>
        <p:txBody>
          <a:bodyPr/>
          <a:lstStyle/>
          <a:p>
            <a:endParaRPr lang="en-IN"/>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IN"/>
          </a:p>
        </p:txBody>
      </p:sp>
      <p:sp>
        <p:nvSpPr>
          <p:cNvPr id="6" name="Slide Number Placeholder 5"/>
          <p:cNvSpPr>
            <a:spLocks noGrp="1"/>
          </p:cNvSpPr>
          <p:nvPr>
            <p:ph type="sldNum" sz="quarter" idx="12"/>
          </p:nvPr>
        </p:nvSpPr>
        <p:spPr>
          <a:xfrm>
            <a:off x="531812" y="3244139"/>
            <a:ext cx="779767" cy="365125"/>
          </a:xfrm>
        </p:spPr>
        <p:txBody>
          <a:bodyPr/>
          <a:lstStyle/>
          <a:p>
            <a:fld id="{CB34262D-DE52-4EF9-B005-BF801CBA44FC}" type="slidenum">
              <a:rPr lang="en-IN" smtClean="0"/>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54530884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A8024149-B39F-4B40-9A4D-0179A9EB32D2}" type="datetimeFigureOut">
              <a:rPr lang="en-IN" smtClean="0"/>
              <a:t>08-02-2026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IN"/>
          </a:p>
        </p:txBody>
      </p:sp>
      <p:sp>
        <p:nvSpPr>
          <p:cNvPr id="7" name="Slide Number Placeholder 6"/>
          <p:cNvSpPr>
            <a:spLocks noGrp="1"/>
          </p:cNvSpPr>
          <p:nvPr>
            <p:ph type="sldNum" sz="quarter" idx="12"/>
          </p:nvPr>
        </p:nvSpPr>
        <p:spPr>
          <a:xfrm>
            <a:off x="531812" y="4983087"/>
            <a:ext cx="779767" cy="365125"/>
          </a:xfrm>
        </p:spPr>
        <p:txBody>
          <a:bodyPr/>
          <a:lstStyle/>
          <a:p>
            <a:fld id="{CB34262D-DE52-4EF9-B005-BF801CBA44FC}" type="slidenum">
              <a:rPr lang="en-IN" smtClean="0"/>
              <a:t>‹#›</a:t>
            </a:fld>
            <a:endParaRPr lang="en-IN"/>
          </a:p>
        </p:txBody>
      </p:sp>
    </p:spTree>
    <p:extLst>
      <p:ext uri="{BB962C8B-B14F-4D97-AF65-F5344CB8AC3E}">
        <p14:creationId xmlns:p14="http://schemas.microsoft.com/office/powerpoint/2010/main" val="192118568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A8024149-B39F-4B40-9A4D-0179A9EB32D2}" type="datetimeFigureOut">
              <a:rPr lang="en-IN" smtClean="0"/>
              <a:t>08-02-2026</a:t>
            </a:fld>
            <a:endParaRPr lang="en-IN"/>
          </a:p>
        </p:txBody>
      </p:sp>
      <p:sp>
        <p:nvSpPr>
          <p:cNvPr id="6" name="Footer Placeholder 5"/>
          <p:cNvSpPr>
            <a:spLocks noGrp="1"/>
          </p:cNvSpPr>
          <p:nvPr>
            <p:ph type="ftr" sz="quarter" idx="11"/>
          </p:nvPr>
        </p:nvSpPr>
        <p:spPr/>
        <p:txBody>
          <a:bodyPr/>
          <a:lstStyle/>
          <a:p>
            <a:endParaRPr lang="en-IN"/>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IN"/>
          </a:p>
        </p:txBody>
      </p:sp>
      <p:sp>
        <p:nvSpPr>
          <p:cNvPr id="7" name="Slide Number Placeholder 6"/>
          <p:cNvSpPr>
            <a:spLocks noGrp="1"/>
          </p:cNvSpPr>
          <p:nvPr>
            <p:ph type="sldNum" sz="quarter" idx="12"/>
          </p:nvPr>
        </p:nvSpPr>
        <p:spPr>
          <a:xfrm>
            <a:off x="531812" y="4983087"/>
            <a:ext cx="779767" cy="365125"/>
          </a:xfrm>
        </p:spPr>
        <p:txBody>
          <a:bodyPr/>
          <a:lstStyle/>
          <a:p>
            <a:fld id="{CB34262D-DE52-4EF9-B005-BF801CBA44FC}" type="slidenum">
              <a:rPr lang="en-IN" smtClean="0"/>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8509765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A8024149-B39F-4B40-9A4D-0179A9EB32D2}" type="datetimeFigureOut">
              <a:rPr lang="en-IN" smtClean="0"/>
              <a:t>08-02-2026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IN"/>
          </a:p>
        </p:txBody>
      </p:sp>
      <p:sp>
        <p:nvSpPr>
          <p:cNvPr id="7" name="Slide Number Placeholder 6"/>
          <p:cNvSpPr>
            <a:spLocks noGrp="1"/>
          </p:cNvSpPr>
          <p:nvPr>
            <p:ph type="sldNum" sz="quarter" idx="12"/>
          </p:nvPr>
        </p:nvSpPr>
        <p:spPr>
          <a:xfrm>
            <a:off x="531812" y="4983087"/>
            <a:ext cx="779767" cy="365125"/>
          </a:xfrm>
        </p:spPr>
        <p:txBody>
          <a:bodyPr/>
          <a:lstStyle/>
          <a:p>
            <a:fld id="{CB34262D-DE52-4EF9-B005-BF801CBA44FC}" type="slidenum">
              <a:rPr lang="en-IN" smtClean="0"/>
              <a:t>‹#›</a:t>
            </a:fld>
            <a:endParaRPr lang="en-IN"/>
          </a:p>
        </p:txBody>
      </p:sp>
    </p:spTree>
    <p:extLst>
      <p:ext uri="{BB962C8B-B14F-4D97-AF65-F5344CB8AC3E}">
        <p14:creationId xmlns:p14="http://schemas.microsoft.com/office/powerpoint/2010/main" val="107049857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8024149-B39F-4B40-9A4D-0179A9EB32D2}" type="datetimeFigureOut">
              <a:rPr lang="en-IN" smtClean="0"/>
              <a:t>08-02-2026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IN"/>
          </a:p>
        </p:txBody>
      </p:sp>
      <p:sp>
        <p:nvSpPr>
          <p:cNvPr id="6" name="Slide Number Placeholder 5"/>
          <p:cNvSpPr>
            <a:spLocks noGrp="1"/>
          </p:cNvSpPr>
          <p:nvPr>
            <p:ph type="sldNum" sz="quarter" idx="12"/>
          </p:nvPr>
        </p:nvSpPr>
        <p:spPr/>
        <p:txBody>
          <a:bodyPr/>
          <a:lstStyle/>
          <a:p>
            <a:fld id="{CB34262D-DE52-4EF9-B005-BF801CBA44FC}" type="slidenum">
              <a:rPr lang="en-IN" smtClean="0"/>
              <a:t>‹#›</a:t>
            </a:fld>
            <a:endParaRPr lang="en-IN"/>
          </a:p>
        </p:txBody>
      </p:sp>
    </p:spTree>
    <p:extLst>
      <p:ext uri="{BB962C8B-B14F-4D97-AF65-F5344CB8AC3E}">
        <p14:creationId xmlns:p14="http://schemas.microsoft.com/office/powerpoint/2010/main" val="4607660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8024149-B39F-4B40-9A4D-0179A9EB32D2}" type="datetimeFigureOut">
              <a:rPr lang="en-IN" smtClean="0"/>
              <a:t>08-02-2026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IN"/>
          </a:p>
        </p:txBody>
      </p:sp>
      <p:sp>
        <p:nvSpPr>
          <p:cNvPr id="6" name="Slide Number Placeholder 5"/>
          <p:cNvSpPr>
            <a:spLocks noGrp="1"/>
          </p:cNvSpPr>
          <p:nvPr>
            <p:ph type="sldNum" sz="quarter" idx="12"/>
          </p:nvPr>
        </p:nvSpPr>
        <p:spPr/>
        <p:txBody>
          <a:bodyPr/>
          <a:lstStyle/>
          <a:p>
            <a:fld id="{CB34262D-DE52-4EF9-B005-BF801CBA44FC}" type="slidenum">
              <a:rPr lang="en-IN" smtClean="0"/>
              <a:t>‹#›</a:t>
            </a:fld>
            <a:endParaRPr lang="en-IN"/>
          </a:p>
        </p:txBody>
      </p:sp>
    </p:spTree>
    <p:extLst>
      <p:ext uri="{BB962C8B-B14F-4D97-AF65-F5344CB8AC3E}">
        <p14:creationId xmlns:p14="http://schemas.microsoft.com/office/powerpoint/2010/main" val="39490506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en-IN"/>
            </a:p>
          </p:txBody>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en-IN"/>
            </a:p>
          </p:txBody>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en-IN"/>
            </a:p>
          </p:txBody>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en-IN"/>
            </a:p>
          </p:txBody>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en-IN"/>
            </a:p>
          </p:txBody>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en-IN"/>
            </a:p>
          </p:txBody>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en-IN"/>
            </a:p>
          </p:txBody>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en-IN"/>
            </a:p>
          </p:txBody>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en-IN"/>
            </a:p>
          </p:txBody>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en-IN"/>
            </a:p>
          </p:txBody>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en-IN"/>
            </a:p>
          </p:txBody>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en-IN"/>
            </a:p>
          </p:txBody>
        </p:sp>
      </p:grpSp>
      <p:grpSp>
        <p:nvGrpSpPr>
          <p:cNvPr id="10" name="Group 9"/>
          <p:cNvGrpSpPr/>
          <p:nvPr/>
        </p:nvGrpSpPr>
        <p:grpSpPr>
          <a:xfrm>
            <a:off x="27221" y="157"/>
            <a:ext cx="2356674" cy="6853096"/>
            <a:chOff x="6627813" y="195610"/>
            <a:chExt cx="1952625" cy="5678141"/>
          </a:xfrm>
        </p:grpSpPr>
        <p:sp>
          <p:nvSpPr>
            <p:cNvPr id="11" name="Freeform 27"/>
            <p:cNvSpPr/>
            <p:nvPr/>
          </p:nvSpPr>
          <p:spPr bwMode="auto">
            <a:xfrm>
              <a:off x="6627813" y="195610"/>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en-IN"/>
            </a:p>
          </p:txBody>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en-IN"/>
            </a:p>
          </p:txBody>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en-IN"/>
            </a:p>
          </p:txBody>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en-IN"/>
            </a:p>
          </p:txBody>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en-IN"/>
            </a:p>
          </p:txBody>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en-IN"/>
            </a:p>
          </p:txBody>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en-IN"/>
            </a:p>
          </p:txBody>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en-IN"/>
            </a:p>
          </p:txBody>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en-IN"/>
            </a:p>
          </p:txBody>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en-IN"/>
            </a:p>
          </p:txBody>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en-IN"/>
            </a:p>
          </p:txBody>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en-IN"/>
            </a:p>
          </p:txBody>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A8024149-B39F-4B40-9A4D-0179A9EB32D2}" type="datetimeFigureOut">
              <a:rPr lang="en-IN" smtClean="0"/>
              <a:t>08-02-2026</a:t>
            </a:fld>
            <a:endParaRPr lang="en-IN"/>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CB34262D-DE52-4EF9-B005-BF801CBA44FC}" type="slidenum">
              <a:rPr lang="en-IN" smtClean="0"/>
              <a:t>‹#›</a:t>
            </a:fld>
            <a:endParaRPr lang="en-IN"/>
          </a:p>
        </p:txBody>
      </p:sp>
    </p:spTree>
    <p:extLst>
      <p:ext uri="{BB962C8B-B14F-4D97-AF65-F5344CB8AC3E}">
        <p14:creationId xmlns:p14="http://schemas.microsoft.com/office/powerpoint/2010/main" val="1506859583"/>
      </p:ext>
    </p:extLst>
  </p:cSld>
  <p:clrMap bg1="lt1" tx1="dk1" bg2="lt2" tx2="dk2" accent1="accent1" accent2="accent2" accent3="accent3" accent4="accent4" accent5="accent5" accent6="accent6" hlink="hlink" folHlink="folHlink"/>
  <p:sldLayoutIdLst>
    <p:sldLayoutId id="2147483719" r:id="rId1"/>
    <p:sldLayoutId id="2147483720" r:id="rId2"/>
    <p:sldLayoutId id="2147483721" r:id="rId3"/>
    <p:sldLayoutId id="2147483722" r:id="rId4"/>
    <p:sldLayoutId id="2147483723" r:id="rId5"/>
    <p:sldLayoutId id="2147483724" r:id="rId6"/>
    <p:sldLayoutId id="2147483725" r:id="rId7"/>
    <p:sldLayoutId id="2147483726" r:id="rId8"/>
    <p:sldLayoutId id="2147483727" r:id="rId9"/>
    <p:sldLayoutId id="2147483728" r:id="rId10"/>
    <p:sldLayoutId id="2147483729" r:id="rId11"/>
    <p:sldLayoutId id="2147483730" r:id="rId12"/>
    <p:sldLayoutId id="2147483731" r:id="rId13"/>
    <p:sldLayoutId id="2147483732" r:id="rId14"/>
    <p:sldLayoutId id="2147483733" r:id="rId15"/>
    <p:sldLayoutId id="2147483734" r:id="rId16"/>
  </p:sldLayoutIdLst>
  <p:txStyles>
    <p:titleStyle>
      <a:lvl1pPr algn="l" defTabSz="457200" rtl="0" eaLnBrk="1" latinLnBrk="0" hangingPunct="1">
        <a:spcBef>
          <a:spcPct val="0"/>
        </a:spcBef>
        <a:buNone/>
        <a:defRPr sz="3600" kern="1200">
          <a:solidFill>
            <a:schemeClr val="accent2">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3CB169-D638-F8C4-1F95-851FB4F0250C}"/>
              </a:ext>
            </a:extLst>
          </p:cNvPr>
          <p:cNvSpPr>
            <a:spLocks noGrp="1"/>
          </p:cNvSpPr>
          <p:nvPr>
            <p:ph type="ctrTitle"/>
          </p:nvPr>
        </p:nvSpPr>
        <p:spPr/>
        <p:txBody>
          <a:bodyPr>
            <a:normAutofit fontScale="90000"/>
          </a:bodyPr>
          <a:lstStyle/>
          <a:p>
            <a:r>
              <a:rPr lang="en-IN" dirty="0"/>
              <a:t>PDF Entity Extraction and Knowledge Graph Visualization using Python</a:t>
            </a:r>
          </a:p>
        </p:txBody>
      </p:sp>
      <p:sp>
        <p:nvSpPr>
          <p:cNvPr id="3" name="Subtitle 2">
            <a:extLst>
              <a:ext uri="{FF2B5EF4-FFF2-40B4-BE49-F238E27FC236}">
                <a16:creationId xmlns:a16="http://schemas.microsoft.com/office/drawing/2014/main" id="{DCD0CBAA-C02D-840A-BF99-7A6443431F80}"/>
              </a:ext>
            </a:extLst>
          </p:cNvPr>
          <p:cNvSpPr>
            <a:spLocks noGrp="1"/>
          </p:cNvSpPr>
          <p:nvPr>
            <p:ph type="subTitle" idx="1"/>
          </p:nvPr>
        </p:nvSpPr>
        <p:spPr/>
        <p:txBody>
          <a:bodyPr>
            <a:normAutofit/>
          </a:bodyPr>
          <a:lstStyle/>
          <a:p>
            <a:r>
              <a:rPr lang="en-IN" sz="2000" dirty="0"/>
              <a:t>Defectech Assignment</a:t>
            </a:r>
          </a:p>
        </p:txBody>
      </p:sp>
      <p:sp>
        <p:nvSpPr>
          <p:cNvPr id="4" name="TextBox 3">
            <a:extLst>
              <a:ext uri="{FF2B5EF4-FFF2-40B4-BE49-F238E27FC236}">
                <a16:creationId xmlns:a16="http://schemas.microsoft.com/office/drawing/2014/main" id="{FA610F1F-A1CE-516E-E0A6-23C17E9E6407}"/>
              </a:ext>
            </a:extLst>
          </p:cNvPr>
          <p:cNvSpPr txBox="1"/>
          <p:nvPr/>
        </p:nvSpPr>
        <p:spPr>
          <a:xfrm>
            <a:off x="9269505" y="5701554"/>
            <a:ext cx="2922495" cy="800219"/>
          </a:xfrm>
          <a:prstGeom prst="rect">
            <a:avLst/>
          </a:prstGeom>
          <a:noFill/>
        </p:spPr>
        <p:txBody>
          <a:bodyPr wrap="square" rtlCol="0">
            <a:spAutoFit/>
          </a:bodyPr>
          <a:lstStyle/>
          <a:p>
            <a:r>
              <a:rPr lang="en-IN" dirty="0"/>
              <a:t>Jerrybritto Johnbritto</a:t>
            </a:r>
          </a:p>
          <a:p>
            <a:r>
              <a:rPr lang="en-IN" sz="1400" dirty="0"/>
              <a:t>Master of Data Science</a:t>
            </a:r>
          </a:p>
          <a:p>
            <a:r>
              <a:rPr lang="en-IN" sz="1400" dirty="0"/>
              <a:t>Macquarie University</a:t>
            </a:r>
          </a:p>
        </p:txBody>
      </p:sp>
    </p:spTree>
    <p:extLst>
      <p:ext uri="{BB962C8B-B14F-4D97-AF65-F5344CB8AC3E}">
        <p14:creationId xmlns:p14="http://schemas.microsoft.com/office/powerpoint/2010/main" val="18663049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E734A8-5A8E-21D9-5AE1-9E1A379018CD}"/>
              </a:ext>
            </a:extLst>
          </p:cNvPr>
          <p:cNvSpPr>
            <a:spLocks noGrp="1"/>
          </p:cNvSpPr>
          <p:nvPr>
            <p:ph type="title"/>
          </p:nvPr>
        </p:nvSpPr>
        <p:spPr>
          <a:xfrm>
            <a:off x="2592925" y="624110"/>
            <a:ext cx="8911687" cy="607531"/>
          </a:xfrm>
        </p:spPr>
        <p:txBody>
          <a:bodyPr>
            <a:normAutofit fontScale="90000"/>
          </a:bodyPr>
          <a:lstStyle/>
          <a:p>
            <a:r>
              <a:rPr lang="en-IN" dirty="0"/>
              <a:t>Problem Statement</a:t>
            </a:r>
          </a:p>
        </p:txBody>
      </p:sp>
      <p:sp>
        <p:nvSpPr>
          <p:cNvPr id="3" name="Content Placeholder 2">
            <a:extLst>
              <a:ext uri="{FF2B5EF4-FFF2-40B4-BE49-F238E27FC236}">
                <a16:creationId xmlns:a16="http://schemas.microsoft.com/office/drawing/2014/main" id="{F6C2ABBD-898F-F3A5-2FC7-86D196772C14}"/>
              </a:ext>
            </a:extLst>
          </p:cNvPr>
          <p:cNvSpPr>
            <a:spLocks noGrp="1"/>
          </p:cNvSpPr>
          <p:nvPr>
            <p:ph idx="1"/>
          </p:nvPr>
        </p:nvSpPr>
        <p:spPr>
          <a:xfrm>
            <a:off x="2589212" y="1649506"/>
            <a:ext cx="8915400" cy="4584384"/>
          </a:xfrm>
        </p:spPr>
        <p:txBody>
          <a:bodyPr/>
          <a:lstStyle/>
          <a:p>
            <a:r>
              <a:rPr lang="en-IN" dirty="0"/>
              <a:t>The goal of this project is to design a Python system that extracts structured information from an unstructured PDF document and transforms it into a knowledge graph. </a:t>
            </a:r>
          </a:p>
          <a:p>
            <a:r>
              <a:rPr lang="en-IN" dirty="0"/>
              <a:t>PDF files are difficult to process because they contain inconsistent formatting, mixed layouts, and noisy text such as headers and correspondence messages. The challenge is to automatically identify meaningful entities and relationships while filtering irrelevant information. </a:t>
            </a:r>
          </a:p>
          <a:p>
            <a:r>
              <a:rPr lang="en-IN" dirty="0"/>
              <a:t>The final objective is to visualize these relationships in a clear and interpretable graph.</a:t>
            </a:r>
          </a:p>
        </p:txBody>
      </p:sp>
    </p:spTree>
    <p:extLst>
      <p:ext uri="{BB962C8B-B14F-4D97-AF65-F5344CB8AC3E}">
        <p14:creationId xmlns:p14="http://schemas.microsoft.com/office/powerpoint/2010/main" val="10364627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6FB2B5-C5AF-559B-E517-8F0EB77BE4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695AE6-C5D4-53D3-3144-95875B9EFF82}"/>
              </a:ext>
            </a:extLst>
          </p:cNvPr>
          <p:cNvSpPr>
            <a:spLocks noGrp="1"/>
          </p:cNvSpPr>
          <p:nvPr>
            <p:ph type="title"/>
          </p:nvPr>
        </p:nvSpPr>
        <p:spPr>
          <a:xfrm>
            <a:off x="2592925" y="624110"/>
            <a:ext cx="8911687" cy="607531"/>
          </a:xfrm>
        </p:spPr>
        <p:txBody>
          <a:bodyPr>
            <a:normAutofit fontScale="90000"/>
          </a:bodyPr>
          <a:lstStyle/>
          <a:p>
            <a:r>
              <a:rPr lang="en-IN" dirty="0"/>
              <a:t>Project Goal &amp; Approach</a:t>
            </a:r>
          </a:p>
        </p:txBody>
      </p:sp>
      <p:sp>
        <p:nvSpPr>
          <p:cNvPr id="3" name="Content Placeholder 2">
            <a:extLst>
              <a:ext uri="{FF2B5EF4-FFF2-40B4-BE49-F238E27FC236}">
                <a16:creationId xmlns:a16="http://schemas.microsoft.com/office/drawing/2014/main" id="{D7EFE3E4-7132-2BE9-FD6F-2D9EE1C27D34}"/>
              </a:ext>
            </a:extLst>
          </p:cNvPr>
          <p:cNvSpPr>
            <a:spLocks noGrp="1"/>
          </p:cNvSpPr>
          <p:nvPr>
            <p:ph idx="1"/>
          </p:nvPr>
        </p:nvSpPr>
        <p:spPr>
          <a:xfrm>
            <a:off x="2589212" y="1658471"/>
            <a:ext cx="8915400" cy="4575419"/>
          </a:xfrm>
        </p:spPr>
        <p:txBody>
          <a:bodyPr>
            <a:normAutofit/>
          </a:bodyPr>
          <a:lstStyle/>
          <a:p>
            <a:pPr marL="0" indent="0">
              <a:spcBef>
                <a:spcPts val="600"/>
              </a:spcBef>
              <a:buNone/>
            </a:pPr>
            <a:r>
              <a:rPr lang="en-IN" b="1" dirty="0"/>
              <a:t>Goal:</a:t>
            </a:r>
            <a:r>
              <a:rPr lang="en-IN" dirty="0"/>
              <a:t> Convert raw PDF text into relational knowledge.</a:t>
            </a:r>
          </a:p>
          <a:p>
            <a:pPr marL="0" indent="0">
              <a:spcBef>
                <a:spcPts val="600"/>
              </a:spcBef>
              <a:buNone/>
            </a:pPr>
            <a:endParaRPr lang="en-IN" dirty="0"/>
          </a:p>
          <a:p>
            <a:pPr marL="0" indent="0">
              <a:spcBef>
                <a:spcPts val="600"/>
              </a:spcBef>
              <a:buNone/>
            </a:pPr>
            <a:r>
              <a:rPr lang="en-IN" b="1" dirty="0"/>
              <a:t>Approach:</a:t>
            </a:r>
            <a:endParaRPr lang="en-IN" dirty="0"/>
          </a:p>
          <a:p>
            <a:pPr marL="800100" lvl="1" indent="-342900">
              <a:buFont typeface="+mj-lt"/>
              <a:buAutoNum type="arabicPeriod"/>
            </a:pPr>
            <a:r>
              <a:rPr lang="en-IN" sz="1800" dirty="0"/>
              <a:t>Read PDF text</a:t>
            </a:r>
          </a:p>
          <a:p>
            <a:pPr marL="800100" lvl="1" indent="-342900">
              <a:buFont typeface="+mj-lt"/>
              <a:buAutoNum type="arabicPeriod"/>
            </a:pPr>
            <a:r>
              <a:rPr lang="en-IN" sz="1800" dirty="0"/>
              <a:t>Clean and preprocess lines</a:t>
            </a:r>
          </a:p>
          <a:p>
            <a:pPr marL="800100" lvl="1" indent="-342900">
              <a:buFont typeface="+mj-lt"/>
              <a:buAutoNum type="arabicPeriod"/>
            </a:pPr>
            <a:r>
              <a:rPr lang="en-IN" sz="1800" dirty="0"/>
              <a:t>Extract names and emails using regex</a:t>
            </a:r>
          </a:p>
          <a:p>
            <a:pPr marL="800100" lvl="1" indent="-342900">
              <a:buFont typeface="+mj-lt"/>
              <a:buAutoNum type="arabicPeriod"/>
            </a:pPr>
            <a:r>
              <a:rPr lang="en-IN" sz="1800" dirty="0"/>
              <a:t>Infer organizations from email domains</a:t>
            </a:r>
          </a:p>
          <a:p>
            <a:pPr marL="800100" lvl="1" indent="-342900">
              <a:buFont typeface="+mj-lt"/>
              <a:buAutoNum type="arabicPeriod"/>
            </a:pPr>
            <a:r>
              <a:rPr lang="en-IN" sz="1800" dirty="0"/>
              <a:t>Build a knowledge graph</a:t>
            </a:r>
          </a:p>
          <a:p>
            <a:pPr marL="800100" lvl="1" indent="-342900">
              <a:buFont typeface="+mj-lt"/>
              <a:buAutoNum type="arabicPeriod"/>
            </a:pPr>
            <a:r>
              <a:rPr lang="en-IN" sz="1800" dirty="0"/>
              <a:t>Visualize relationships</a:t>
            </a:r>
          </a:p>
          <a:p>
            <a:pPr marL="800100" lvl="1" indent="-342900">
              <a:spcBef>
                <a:spcPts val="600"/>
              </a:spcBef>
              <a:buFont typeface="+mj-lt"/>
              <a:buAutoNum type="arabicPeriod"/>
            </a:pPr>
            <a:endParaRPr lang="en-IN" sz="1800" dirty="0"/>
          </a:p>
          <a:p>
            <a:pPr marL="57150" indent="0">
              <a:spcBef>
                <a:spcPts val="600"/>
              </a:spcBef>
              <a:buNone/>
            </a:pPr>
            <a:r>
              <a:rPr lang="en-IN" dirty="0"/>
              <a:t>This pipeline transforms unstructured text into structured semantic data.</a:t>
            </a:r>
          </a:p>
        </p:txBody>
      </p:sp>
    </p:spTree>
    <p:extLst>
      <p:ext uri="{BB962C8B-B14F-4D97-AF65-F5344CB8AC3E}">
        <p14:creationId xmlns:p14="http://schemas.microsoft.com/office/powerpoint/2010/main" val="15836361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53E31A-A892-4742-B67D-19659C1EA7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221819-AD98-0362-8433-EF9DC5EC0753}"/>
              </a:ext>
            </a:extLst>
          </p:cNvPr>
          <p:cNvSpPr>
            <a:spLocks noGrp="1"/>
          </p:cNvSpPr>
          <p:nvPr>
            <p:ph type="title"/>
          </p:nvPr>
        </p:nvSpPr>
        <p:spPr>
          <a:xfrm>
            <a:off x="2172815" y="624110"/>
            <a:ext cx="8911687" cy="607531"/>
          </a:xfrm>
        </p:spPr>
        <p:txBody>
          <a:bodyPr>
            <a:normAutofit fontScale="90000"/>
          </a:bodyPr>
          <a:lstStyle/>
          <a:p>
            <a:r>
              <a:rPr lang="en-IN" dirty="0"/>
              <a:t>System Architecture</a:t>
            </a:r>
          </a:p>
        </p:txBody>
      </p:sp>
      <p:sp>
        <p:nvSpPr>
          <p:cNvPr id="3" name="Content Placeholder 2">
            <a:extLst>
              <a:ext uri="{FF2B5EF4-FFF2-40B4-BE49-F238E27FC236}">
                <a16:creationId xmlns:a16="http://schemas.microsoft.com/office/drawing/2014/main" id="{7CF2B931-AE42-72E1-D1BF-E3BFA9EFF9E8}"/>
              </a:ext>
            </a:extLst>
          </p:cNvPr>
          <p:cNvSpPr>
            <a:spLocks noGrp="1"/>
          </p:cNvSpPr>
          <p:nvPr>
            <p:ph idx="1"/>
          </p:nvPr>
        </p:nvSpPr>
        <p:spPr>
          <a:xfrm>
            <a:off x="2172815" y="1506968"/>
            <a:ext cx="6994059" cy="894229"/>
          </a:xfrm>
        </p:spPr>
        <p:txBody>
          <a:bodyPr/>
          <a:lstStyle/>
          <a:p>
            <a:r>
              <a:rPr lang="en-IN" b="1" dirty="0"/>
              <a:t>Architecture</a:t>
            </a:r>
            <a:endParaRPr lang="en-IN" dirty="0"/>
          </a:p>
          <a:p>
            <a:pPr marL="0" indent="0">
              <a:buNone/>
            </a:pPr>
            <a:r>
              <a:rPr lang="en-IN" b="1" dirty="0"/>
              <a:t>PDF       Text       Entities       Knowledge Graph       Visualization</a:t>
            </a:r>
          </a:p>
          <a:p>
            <a:endParaRPr lang="en-IN" dirty="0"/>
          </a:p>
        </p:txBody>
      </p:sp>
      <p:cxnSp>
        <p:nvCxnSpPr>
          <p:cNvPr id="4" name="Straight Arrow Connector 3">
            <a:extLst>
              <a:ext uri="{FF2B5EF4-FFF2-40B4-BE49-F238E27FC236}">
                <a16:creationId xmlns:a16="http://schemas.microsoft.com/office/drawing/2014/main" id="{3BE3F772-1681-DCA8-723C-C4D56FDF5B9F}"/>
              </a:ext>
            </a:extLst>
          </p:cNvPr>
          <p:cNvCxnSpPr>
            <a:cxnSpLocks/>
          </p:cNvCxnSpPr>
          <p:nvPr/>
        </p:nvCxnSpPr>
        <p:spPr>
          <a:xfrm>
            <a:off x="2777992" y="2093495"/>
            <a:ext cx="24634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 name="Straight Arrow Connector 4">
            <a:extLst>
              <a:ext uri="{FF2B5EF4-FFF2-40B4-BE49-F238E27FC236}">
                <a16:creationId xmlns:a16="http://schemas.microsoft.com/office/drawing/2014/main" id="{DECDD62D-AF90-8563-F7D7-9CF181A93F91}"/>
              </a:ext>
            </a:extLst>
          </p:cNvPr>
          <p:cNvCxnSpPr>
            <a:cxnSpLocks/>
          </p:cNvCxnSpPr>
          <p:nvPr/>
        </p:nvCxnSpPr>
        <p:spPr>
          <a:xfrm>
            <a:off x="3682867" y="2093495"/>
            <a:ext cx="24634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 name="Straight Arrow Connector 5">
            <a:extLst>
              <a:ext uri="{FF2B5EF4-FFF2-40B4-BE49-F238E27FC236}">
                <a16:creationId xmlns:a16="http://schemas.microsoft.com/office/drawing/2014/main" id="{378C76AE-9CA9-3797-DD70-D3E426F623A7}"/>
              </a:ext>
            </a:extLst>
          </p:cNvPr>
          <p:cNvCxnSpPr>
            <a:cxnSpLocks/>
          </p:cNvCxnSpPr>
          <p:nvPr/>
        </p:nvCxnSpPr>
        <p:spPr>
          <a:xfrm>
            <a:off x="4855551" y="2094247"/>
            <a:ext cx="24634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 name="Straight Arrow Connector 6">
            <a:extLst>
              <a:ext uri="{FF2B5EF4-FFF2-40B4-BE49-F238E27FC236}">
                <a16:creationId xmlns:a16="http://schemas.microsoft.com/office/drawing/2014/main" id="{BD2C0651-A3FA-5E07-E5A5-FDA726F245AE}"/>
              </a:ext>
            </a:extLst>
          </p:cNvPr>
          <p:cNvCxnSpPr>
            <a:cxnSpLocks/>
          </p:cNvCxnSpPr>
          <p:nvPr/>
        </p:nvCxnSpPr>
        <p:spPr>
          <a:xfrm>
            <a:off x="7349991" y="2094247"/>
            <a:ext cx="24634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8" name="TextBox 7">
            <a:extLst>
              <a:ext uri="{FF2B5EF4-FFF2-40B4-BE49-F238E27FC236}">
                <a16:creationId xmlns:a16="http://schemas.microsoft.com/office/drawing/2014/main" id="{A934657B-23C4-B021-51AC-15B51C4E25E5}"/>
              </a:ext>
            </a:extLst>
          </p:cNvPr>
          <p:cNvSpPr txBox="1"/>
          <p:nvPr/>
        </p:nvSpPr>
        <p:spPr>
          <a:xfrm>
            <a:off x="2172815" y="2401197"/>
            <a:ext cx="6218150" cy="2585323"/>
          </a:xfrm>
          <a:prstGeom prst="rect">
            <a:avLst/>
          </a:prstGeom>
          <a:noFill/>
        </p:spPr>
        <p:txBody>
          <a:bodyPr wrap="square" rtlCol="0">
            <a:spAutoFit/>
          </a:bodyPr>
          <a:lstStyle/>
          <a:p>
            <a:r>
              <a:rPr lang="en-IN" dirty="0"/>
              <a:t>The system is designed as a modular pipeline where each stage performs a specific task. The text extraction module converts the PDF into clean lines. The preprocessing stage removes noise and identifies entities using regex. The graph construction stage transforms entities into nodes and relationships. Finally, the visualization module renders the knowledge graph using a dynamic layout.</a:t>
            </a:r>
          </a:p>
          <a:p>
            <a:endParaRPr lang="en-IN" dirty="0"/>
          </a:p>
        </p:txBody>
      </p:sp>
      <p:pic>
        <p:nvPicPr>
          <p:cNvPr id="10" name="Picture 9">
            <a:extLst>
              <a:ext uri="{FF2B5EF4-FFF2-40B4-BE49-F238E27FC236}">
                <a16:creationId xmlns:a16="http://schemas.microsoft.com/office/drawing/2014/main" id="{F255C6E5-CE52-915D-BDE2-DBEBB411EFE8}"/>
              </a:ext>
            </a:extLst>
          </p:cNvPr>
          <p:cNvPicPr>
            <a:picLocks noChangeAspect="1"/>
          </p:cNvPicPr>
          <p:nvPr/>
        </p:nvPicPr>
        <p:blipFill>
          <a:blip r:embed="rId2"/>
          <a:stretch>
            <a:fillRect/>
          </a:stretch>
        </p:blipFill>
        <p:spPr>
          <a:xfrm>
            <a:off x="9292380" y="1483894"/>
            <a:ext cx="2514331" cy="4749996"/>
          </a:xfrm>
          <a:prstGeom prst="rect">
            <a:avLst/>
          </a:prstGeom>
          <a:ln>
            <a:solidFill>
              <a:schemeClr val="tx1"/>
            </a:solidFill>
          </a:ln>
        </p:spPr>
      </p:pic>
    </p:spTree>
    <p:extLst>
      <p:ext uri="{BB962C8B-B14F-4D97-AF65-F5344CB8AC3E}">
        <p14:creationId xmlns:p14="http://schemas.microsoft.com/office/powerpoint/2010/main" val="976285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BC5E33-E271-3A42-CE54-B4CF2A5603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88B753-0E0F-6A05-455C-1F1A6C99A754}"/>
              </a:ext>
            </a:extLst>
          </p:cNvPr>
          <p:cNvSpPr>
            <a:spLocks noGrp="1"/>
          </p:cNvSpPr>
          <p:nvPr>
            <p:ph type="title"/>
          </p:nvPr>
        </p:nvSpPr>
        <p:spPr>
          <a:xfrm>
            <a:off x="2592925" y="624110"/>
            <a:ext cx="8911687" cy="607531"/>
          </a:xfrm>
        </p:spPr>
        <p:txBody>
          <a:bodyPr>
            <a:normAutofit fontScale="90000"/>
          </a:bodyPr>
          <a:lstStyle/>
          <a:p>
            <a:r>
              <a:rPr lang="en-IN" dirty="0"/>
              <a:t>Tools &amp; Libraries</a:t>
            </a:r>
          </a:p>
        </p:txBody>
      </p:sp>
      <p:sp>
        <p:nvSpPr>
          <p:cNvPr id="3" name="Content Placeholder 2">
            <a:extLst>
              <a:ext uri="{FF2B5EF4-FFF2-40B4-BE49-F238E27FC236}">
                <a16:creationId xmlns:a16="http://schemas.microsoft.com/office/drawing/2014/main" id="{2C4852B6-6E1E-8519-436F-FFD772F02C97}"/>
              </a:ext>
            </a:extLst>
          </p:cNvPr>
          <p:cNvSpPr>
            <a:spLocks noGrp="1"/>
          </p:cNvSpPr>
          <p:nvPr>
            <p:ph idx="1"/>
          </p:nvPr>
        </p:nvSpPr>
        <p:spPr>
          <a:xfrm>
            <a:off x="2589212" y="1649506"/>
            <a:ext cx="8915400" cy="4584384"/>
          </a:xfrm>
        </p:spPr>
        <p:txBody>
          <a:bodyPr>
            <a:normAutofit/>
          </a:bodyPr>
          <a:lstStyle/>
          <a:p>
            <a:r>
              <a:rPr lang="en-IN" b="1" dirty="0"/>
              <a:t>Tools Used</a:t>
            </a:r>
          </a:p>
          <a:p>
            <a:pPr lvl="1">
              <a:buFont typeface="Wingdings" panose="05000000000000000000" pitchFamily="2" charset="2"/>
              <a:buChar char="Ø"/>
            </a:pPr>
            <a:r>
              <a:rPr lang="en-IN" b="1" dirty="0"/>
              <a:t>Visual Studio Code (VS Code) </a:t>
            </a:r>
            <a:r>
              <a:rPr lang="en-IN" dirty="0"/>
              <a:t>for coding and debugging</a:t>
            </a:r>
          </a:p>
          <a:p>
            <a:pPr lvl="1">
              <a:buFont typeface="Wingdings" panose="05000000000000000000" pitchFamily="2" charset="2"/>
              <a:buChar char="Ø"/>
            </a:pPr>
            <a:r>
              <a:rPr lang="en-IN" b="1" dirty="0"/>
              <a:t>Python</a:t>
            </a:r>
            <a:r>
              <a:rPr lang="en-IN" dirty="0"/>
              <a:t> as the programming language</a:t>
            </a:r>
          </a:p>
          <a:p>
            <a:pPr marL="457200" lvl="1" indent="0">
              <a:buNone/>
            </a:pPr>
            <a:endParaRPr lang="en-IN" dirty="0"/>
          </a:p>
          <a:p>
            <a:r>
              <a:rPr lang="en-IN" b="1" dirty="0"/>
              <a:t>Libraries Used</a:t>
            </a:r>
            <a:endParaRPr lang="en-IN" dirty="0"/>
          </a:p>
          <a:p>
            <a:pPr marL="685800" lvl="1">
              <a:buFont typeface="Wingdings" panose="05000000000000000000" pitchFamily="2" charset="2"/>
              <a:buChar char="Ø"/>
            </a:pPr>
            <a:r>
              <a:rPr lang="en-IN" b="1" dirty="0" err="1"/>
              <a:t>pdfplumber</a:t>
            </a:r>
            <a:r>
              <a:rPr lang="en-IN" dirty="0"/>
              <a:t>  	text extraction</a:t>
            </a:r>
          </a:p>
          <a:p>
            <a:pPr marL="685800" lvl="1">
              <a:buFont typeface="Wingdings" panose="05000000000000000000" pitchFamily="2" charset="2"/>
              <a:buChar char="Ø"/>
            </a:pPr>
            <a:r>
              <a:rPr lang="en-IN" b="1" dirty="0"/>
              <a:t>Regex</a:t>
            </a:r>
            <a:r>
              <a:rPr lang="en-IN" dirty="0"/>
              <a:t> 	      entity detection</a:t>
            </a:r>
          </a:p>
          <a:p>
            <a:pPr marL="685800" lvl="1">
              <a:buFont typeface="Wingdings" panose="05000000000000000000" pitchFamily="2" charset="2"/>
              <a:buChar char="Ø"/>
            </a:pPr>
            <a:r>
              <a:rPr lang="en-IN" b="1" dirty="0" err="1"/>
              <a:t>NetworkX</a:t>
            </a:r>
            <a:r>
              <a:rPr lang="en-IN" dirty="0"/>
              <a:t> 	    KG graph </a:t>
            </a:r>
            <a:r>
              <a:rPr lang="en-IN" dirty="0" err="1"/>
              <a:t>modeling</a:t>
            </a:r>
            <a:endParaRPr lang="en-IN" dirty="0"/>
          </a:p>
          <a:p>
            <a:pPr marL="685800" lvl="1">
              <a:buFont typeface="Wingdings" panose="05000000000000000000" pitchFamily="2" charset="2"/>
              <a:buChar char="Ø"/>
            </a:pPr>
            <a:r>
              <a:rPr lang="en-IN" b="1" dirty="0"/>
              <a:t>Matplotlib</a:t>
            </a:r>
            <a:r>
              <a:rPr lang="en-IN" dirty="0"/>
              <a:t>        visualization</a:t>
            </a:r>
          </a:p>
          <a:p>
            <a:pPr marL="685800" lvl="1">
              <a:buFont typeface="Wingdings" panose="05000000000000000000" pitchFamily="2" charset="2"/>
              <a:buChar char="Ø"/>
            </a:pPr>
            <a:r>
              <a:rPr lang="en-IN" b="1" dirty="0" err="1"/>
              <a:t>Textwrap</a:t>
            </a:r>
            <a:r>
              <a:rPr lang="en-IN" dirty="0"/>
              <a:t>        </a:t>
            </a:r>
            <a:r>
              <a:rPr lang="fr-FR" dirty="0"/>
              <a:t>wrap labels </a:t>
            </a:r>
            <a:r>
              <a:rPr lang="fr-FR" dirty="0" err="1"/>
              <a:t>inside</a:t>
            </a:r>
            <a:r>
              <a:rPr lang="fr-FR" dirty="0"/>
              <a:t> </a:t>
            </a:r>
            <a:r>
              <a:rPr lang="fr-FR" dirty="0" err="1"/>
              <a:t>nodes</a:t>
            </a:r>
            <a:endParaRPr lang="en-IN" dirty="0"/>
          </a:p>
        </p:txBody>
      </p:sp>
      <p:cxnSp>
        <p:nvCxnSpPr>
          <p:cNvPr id="25" name="Straight Arrow Connector 24">
            <a:extLst>
              <a:ext uri="{FF2B5EF4-FFF2-40B4-BE49-F238E27FC236}">
                <a16:creationId xmlns:a16="http://schemas.microsoft.com/office/drawing/2014/main" id="{579E7E26-7B37-71BD-7182-F29005B12BE9}"/>
              </a:ext>
            </a:extLst>
          </p:cNvPr>
          <p:cNvCxnSpPr>
            <a:cxnSpLocks/>
          </p:cNvCxnSpPr>
          <p:nvPr/>
        </p:nvCxnSpPr>
        <p:spPr>
          <a:xfrm>
            <a:off x="4644892" y="3741320"/>
            <a:ext cx="24634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7" name="Straight Arrow Connector 26">
            <a:extLst>
              <a:ext uri="{FF2B5EF4-FFF2-40B4-BE49-F238E27FC236}">
                <a16:creationId xmlns:a16="http://schemas.microsoft.com/office/drawing/2014/main" id="{7B77949B-7FF5-9419-6745-0CD73B331107}"/>
              </a:ext>
            </a:extLst>
          </p:cNvPr>
          <p:cNvCxnSpPr>
            <a:cxnSpLocks/>
          </p:cNvCxnSpPr>
          <p:nvPr/>
        </p:nvCxnSpPr>
        <p:spPr>
          <a:xfrm>
            <a:off x="4057511" y="4122320"/>
            <a:ext cx="24634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8" name="Straight Arrow Connector 27">
            <a:extLst>
              <a:ext uri="{FF2B5EF4-FFF2-40B4-BE49-F238E27FC236}">
                <a16:creationId xmlns:a16="http://schemas.microsoft.com/office/drawing/2014/main" id="{471CCFBB-26CE-3FE3-268D-0FFDBE1B47A5}"/>
              </a:ext>
            </a:extLst>
          </p:cNvPr>
          <p:cNvCxnSpPr>
            <a:cxnSpLocks/>
          </p:cNvCxnSpPr>
          <p:nvPr/>
        </p:nvCxnSpPr>
        <p:spPr>
          <a:xfrm>
            <a:off x="4398550" y="4478714"/>
            <a:ext cx="24634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9" name="Straight Arrow Connector 28">
            <a:extLst>
              <a:ext uri="{FF2B5EF4-FFF2-40B4-BE49-F238E27FC236}">
                <a16:creationId xmlns:a16="http://schemas.microsoft.com/office/drawing/2014/main" id="{522431DC-7206-7095-E739-A2583A91F53D}"/>
              </a:ext>
            </a:extLst>
          </p:cNvPr>
          <p:cNvCxnSpPr>
            <a:cxnSpLocks/>
          </p:cNvCxnSpPr>
          <p:nvPr/>
        </p:nvCxnSpPr>
        <p:spPr>
          <a:xfrm>
            <a:off x="4450141" y="4851776"/>
            <a:ext cx="24634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0" name="Straight Arrow Connector 29">
            <a:extLst>
              <a:ext uri="{FF2B5EF4-FFF2-40B4-BE49-F238E27FC236}">
                <a16:creationId xmlns:a16="http://schemas.microsoft.com/office/drawing/2014/main" id="{65CE0ACA-D740-CA08-B860-38B98CB63B75}"/>
              </a:ext>
            </a:extLst>
          </p:cNvPr>
          <p:cNvCxnSpPr>
            <a:cxnSpLocks/>
          </p:cNvCxnSpPr>
          <p:nvPr/>
        </p:nvCxnSpPr>
        <p:spPr>
          <a:xfrm>
            <a:off x="4335046" y="5228808"/>
            <a:ext cx="24634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5018739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F51E87-7417-AA97-4D09-F12B39CE0B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089EC1-1482-A3BD-F10A-58805A0634F4}"/>
              </a:ext>
            </a:extLst>
          </p:cNvPr>
          <p:cNvSpPr>
            <a:spLocks noGrp="1"/>
          </p:cNvSpPr>
          <p:nvPr>
            <p:ph type="title"/>
          </p:nvPr>
        </p:nvSpPr>
        <p:spPr>
          <a:xfrm>
            <a:off x="1998662" y="624110"/>
            <a:ext cx="8911687" cy="607531"/>
          </a:xfrm>
        </p:spPr>
        <p:txBody>
          <a:bodyPr>
            <a:normAutofit fontScale="90000"/>
          </a:bodyPr>
          <a:lstStyle/>
          <a:p>
            <a:r>
              <a:rPr lang="en-IN" dirty="0"/>
              <a:t>Code Implementation – Data Extraction</a:t>
            </a:r>
          </a:p>
        </p:txBody>
      </p:sp>
      <p:sp>
        <p:nvSpPr>
          <p:cNvPr id="3" name="Content Placeholder 2">
            <a:extLst>
              <a:ext uri="{FF2B5EF4-FFF2-40B4-BE49-F238E27FC236}">
                <a16:creationId xmlns:a16="http://schemas.microsoft.com/office/drawing/2014/main" id="{9117E08F-C1C2-6E26-9769-ED29B30D5D8D}"/>
              </a:ext>
            </a:extLst>
          </p:cNvPr>
          <p:cNvSpPr>
            <a:spLocks noGrp="1"/>
          </p:cNvSpPr>
          <p:nvPr>
            <p:ph idx="1"/>
          </p:nvPr>
        </p:nvSpPr>
        <p:spPr>
          <a:xfrm>
            <a:off x="1899442" y="1485898"/>
            <a:ext cx="5383214" cy="5086352"/>
          </a:xfrm>
        </p:spPr>
        <p:txBody>
          <a:bodyPr>
            <a:normAutofit lnSpcReduction="10000"/>
          </a:bodyPr>
          <a:lstStyle/>
          <a:p>
            <a:pPr>
              <a:buFont typeface="Arial" panose="020B0604020202020204" pitchFamily="34" charset="0"/>
              <a:buChar char="•"/>
            </a:pPr>
            <a:r>
              <a:rPr lang="en-IN" sz="1600" dirty="0"/>
              <a:t>Imports libraries for PDF reading, regex processing, and graph building.</a:t>
            </a:r>
          </a:p>
          <a:p>
            <a:pPr>
              <a:buFont typeface="Arial" panose="020B0604020202020204" pitchFamily="34" charset="0"/>
              <a:buChar char="•"/>
            </a:pPr>
            <a:r>
              <a:rPr lang="en-IN" sz="1600" dirty="0" err="1"/>
              <a:t>read_pdf_text</a:t>
            </a:r>
            <a:r>
              <a:rPr lang="en-IN" sz="1600" dirty="0"/>
              <a:t>() extracts and cleans text from all PDF pages.</a:t>
            </a:r>
          </a:p>
          <a:p>
            <a:pPr>
              <a:buFont typeface="Arial" panose="020B0604020202020204" pitchFamily="34" charset="0"/>
              <a:buChar char="•"/>
            </a:pPr>
            <a:r>
              <a:rPr lang="en-IN" sz="1600" dirty="0"/>
              <a:t>Lines are stripped to remove empty spaces and formatting noise.</a:t>
            </a:r>
          </a:p>
          <a:p>
            <a:pPr>
              <a:buFont typeface="Arial" panose="020B0604020202020204" pitchFamily="34" charset="0"/>
              <a:buChar char="•"/>
            </a:pPr>
            <a:r>
              <a:rPr lang="en-IN" sz="1600" dirty="0"/>
              <a:t>Meta data for extraction is Name, Organization and Email. </a:t>
            </a:r>
          </a:p>
          <a:p>
            <a:pPr>
              <a:buFont typeface="Arial" panose="020B0604020202020204" pitchFamily="34" charset="0"/>
              <a:buChar char="•"/>
            </a:pPr>
            <a:r>
              <a:rPr lang="en-IN" sz="1600" dirty="0" err="1"/>
              <a:t>extract_entities</a:t>
            </a:r>
            <a:r>
              <a:rPr lang="en-IN" sz="1600" dirty="0"/>
              <a:t>() finds valid email addresses using regex.</a:t>
            </a:r>
          </a:p>
          <a:p>
            <a:pPr>
              <a:buFont typeface="Arial" panose="020B0604020202020204" pitchFamily="34" charset="0"/>
              <a:buChar char="•"/>
            </a:pPr>
            <a:r>
              <a:rPr lang="en-IN" sz="1600" dirty="0"/>
              <a:t>Names are cleaned by removing prefixes like From: and symbols.</a:t>
            </a:r>
          </a:p>
          <a:p>
            <a:pPr>
              <a:buFont typeface="Arial" panose="020B0604020202020204" pitchFamily="34" charset="0"/>
              <a:buChar char="•"/>
            </a:pPr>
            <a:r>
              <a:rPr lang="en-IN" sz="1600" dirty="0"/>
              <a:t>Organization is inferred automatically from the email domain.</a:t>
            </a:r>
          </a:p>
          <a:p>
            <a:pPr>
              <a:buFont typeface="Arial" panose="020B0604020202020204" pitchFamily="34" charset="0"/>
              <a:buChar char="•"/>
            </a:pPr>
            <a:r>
              <a:rPr lang="en-IN" sz="1600" dirty="0"/>
              <a:t>Duplicate entries are removed to keep unique records only.</a:t>
            </a:r>
          </a:p>
          <a:p>
            <a:pPr>
              <a:buFont typeface="Arial" panose="020B0604020202020204" pitchFamily="34" charset="0"/>
              <a:buChar char="•"/>
            </a:pPr>
            <a:r>
              <a:rPr lang="en-IN" sz="1600" dirty="0"/>
              <a:t>Output is structured as Name – Email – Organization tuples.</a:t>
            </a:r>
          </a:p>
        </p:txBody>
      </p:sp>
      <p:pic>
        <p:nvPicPr>
          <p:cNvPr id="9" name="Picture 8">
            <a:extLst>
              <a:ext uri="{FF2B5EF4-FFF2-40B4-BE49-F238E27FC236}">
                <a16:creationId xmlns:a16="http://schemas.microsoft.com/office/drawing/2014/main" id="{5A7DF16C-D0A5-4A38-D115-F5496D8224D7}"/>
              </a:ext>
            </a:extLst>
          </p:cNvPr>
          <p:cNvPicPr>
            <a:picLocks noChangeAspect="1"/>
          </p:cNvPicPr>
          <p:nvPr/>
        </p:nvPicPr>
        <p:blipFill>
          <a:blip r:embed="rId2"/>
          <a:stretch>
            <a:fillRect/>
          </a:stretch>
        </p:blipFill>
        <p:spPr>
          <a:xfrm>
            <a:off x="7600951" y="1323975"/>
            <a:ext cx="4162423" cy="2733676"/>
          </a:xfrm>
          <a:prstGeom prst="rect">
            <a:avLst/>
          </a:prstGeom>
        </p:spPr>
      </p:pic>
      <p:pic>
        <p:nvPicPr>
          <p:cNvPr id="11" name="Picture 10">
            <a:extLst>
              <a:ext uri="{FF2B5EF4-FFF2-40B4-BE49-F238E27FC236}">
                <a16:creationId xmlns:a16="http://schemas.microsoft.com/office/drawing/2014/main" id="{28B746E4-F5A4-19C1-4740-DDA84EC0884D}"/>
              </a:ext>
            </a:extLst>
          </p:cNvPr>
          <p:cNvPicPr>
            <a:picLocks noChangeAspect="1"/>
          </p:cNvPicPr>
          <p:nvPr/>
        </p:nvPicPr>
        <p:blipFill>
          <a:blip r:embed="rId3"/>
          <a:stretch>
            <a:fillRect/>
          </a:stretch>
        </p:blipFill>
        <p:spPr>
          <a:xfrm>
            <a:off x="7600952" y="4057651"/>
            <a:ext cx="4162422" cy="2514599"/>
          </a:xfrm>
          <a:prstGeom prst="rect">
            <a:avLst/>
          </a:prstGeom>
        </p:spPr>
      </p:pic>
    </p:spTree>
    <p:extLst>
      <p:ext uri="{BB962C8B-B14F-4D97-AF65-F5344CB8AC3E}">
        <p14:creationId xmlns:p14="http://schemas.microsoft.com/office/powerpoint/2010/main" val="6264873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E0CA6D-406A-12FF-17F3-E26D9132E9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78F505-EF30-740B-7A4D-EBD613F126D9}"/>
              </a:ext>
            </a:extLst>
          </p:cNvPr>
          <p:cNvSpPr>
            <a:spLocks noGrp="1"/>
          </p:cNvSpPr>
          <p:nvPr>
            <p:ph type="title"/>
          </p:nvPr>
        </p:nvSpPr>
        <p:spPr>
          <a:xfrm>
            <a:off x="1998662" y="624110"/>
            <a:ext cx="8911687" cy="607531"/>
          </a:xfrm>
        </p:spPr>
        <p:txBody>
          <a:bodyPr>
            <a:normAutofit fontScale="90000"/>
          </a:bodyPr>
          <a:lstStyle/>
          <a:p>
            <a:r>
              <a:rPr lang="en-IN" dirty="0"/>
              <a:t>Code Implementation – Graph Visualization</a:t>
            </a:r>
          </a:p>
        </p:txBody>
      </p:sp>
      <p:sp>
        <p:nvSpPr>
          <p:cNvPr id="3" name="Content Placeholder 2">
            <a:extLst>
              <a:ext uri="{FF2B5EF4-FFF2-40B4-BE49-F238E27FC236}">
                <a16:creationId xmlns:a16="http://schemas.microsoft.com/office/drawing/2014/main" id="{780BCF37-C65C-A1FD-02A8-576CF811BA05}"/>
              </a:ext>
            </a:extLst>
          </p:cNvPr>
          <p:cNvSpPr>
            <a:spLocks noGrp="1"/>
          </p:cNvSpPr>
          <p:nvPr>
            <p:ph idx="1"/>
          </p:nvPr>
        </p:nvSpPr>
        <p:spPr>
          <a:xfrm>
            <a:off x="1998662" y="1438275"/>
            <a:ext cx="5678488" cy="5143500"/>
          </a:xfrm>
        </p:spPr>
        <p:txBody>
          <a:bodyPr>
            <a:noAutofit/>
          </a:bodyPr>
          <a:lstStyle/>
          <a:p>
            <a:pPr>
              <a:buFont typeface="Arial" panose="020B0604020202020204" pitchFamily="34" charset="0"/>
              <a:buChar char="•"/>
            </a:pPr>
            <a:r>
              <a:rPr lang="en-IN" sz="1600" dirty="0" err="1"/>
              <a:t>build_kg</a:t>
            </a:r>
            <a:r>
              <a:rPr lang="en-IN" sz="1600" dirty="0"/>
              <a:t>() converts extracted entities into graph nodes.</a:t>
            </a:r>
          </a:p>
          <a:p>
            <a:pPr>
              <a:buFont typeface="Arial" panose="020B0604020202020204" pitchFamily="34" charset="0"/>
              <a:buChar char="•"/>
            </a:pPr>
            <a:r>
              <a:rPr lang="en-IN" sz="1600" dirty="0" err="1"/>
              <a:t>wrap_text</a:t>
            </a:r>
            <a:r>
              <a:rPr lang="en-IN" sz="1600" dirty="0"/>
              <a:t>() helps labels fit inside visualization nodes.</a:t>
            </a:r>
          </a:p>
          <a:p>
            <a:pPr>
              <a:buFont typeface="Arial" panose="020B0604020202020204" pitchFamily="34" charset="0"/>
              <a:buChar char="•"/>
            </a:pPr>
            <a:r>
              <a:rPr lang="en-IN" sz="1600" dirty="0" err="1"/>
              <a:t>draw_graph</a:t>
            </a:r>
            <a:r>
              <a:rPr lang="en-IN" sz="1600" dirty="0"/>
              <a:t>() creates a structured layout grouped by organization.</a:t>
            </a:r>
          </a:p>
          <a:p>
            <a:pPr>
              <a:buFont typeface="Arial" panose="020B0604020202020204" pitchFamily="34" charset="0"/>
              <a:buChar char="•"/>
            </a:pPr>
            <a:r>
              <a:rPr lang="en-IN" sz="1600" dirty="0"/>
              <a:t>Members of the same organization are spaced evenly.</a:t>
            </a:r>
          </a:p>
          <a:p>
            <a:pPr>
              <a:buFont typeface="Arial" panose="020B0604020202020204" pitchFamily="34" charset="0"/>
              <a:buChar char="•"/>
            </a:pPr>
            <a:r>
              <a:rPr lang="en-IN" sz="1600" dirty="0"/>
              <a:t>Emails are positioned directly below their owners.</a:t>
            </a:r>
          </a:p>
          <a:p>
            <a:pPr>
              <a:buFont typeface="Arial" panose="020B0604020202020204" pitchFamily="34" charset="0"/>
              <a:buChar char="•"/>
            </a:pPr>
            <a:r>
              <a:rPr lang="en-IN" sz="1600" dirty="0"/>
              <a:t>Dynamic spacing prevents node overlap.</a:t>
            </a:r>
          </a:p>
          <a:p>
            <a:pPr>
              <a:buFont typeface="Arial" panose="020B0604020202020204" pitchFamily="34" charset="0"/>
              <a:buChar char="•"/>
            </a:pPr>
            <a:r>
              <a:rPr lang="en-IN" sz="1600" dirty="0" err="1"/>
              <a:t>Colors</a:t>
            </a:r>
            <a:r>
              <a:rPr lang="en-IN" sz="1600" dirty="0"/>
              <a:t> differentiate people, emails, and organizations.</a:t>
            </a:r>
          </a:p>
          <a:p>
            <a:pPr>
              <a:buFont typeface="Arial" panose="020B0604020202020204" pitchFamily="34" charset="0"/>
              <a:buChar char="•"/>
            </a:pPr>
            <a:r>
              <a:rPr lang="en-IN" sz="1600" dirty="0"/>
              <a:t>Labels are wrapped for readability inside nodes.</a:t>
            </a:r>
          </a:p>
          <a:p>
            <a:pPr>
              <a:buFont typeface="Arial" panose="020B0604020202020204" pitchFamily="34" charset="0"/>
              <a:buChar char="•"/>
            </a:pPr>
            <a:r>
              <a:rPr lang="en-IN" sz="1600" dirty="0"/>
              <a:t>A legend explains node categories clearly.</a:t>
            </a:r>
          </a:p>
          <a:p>
            <a:pPr>
              <a:buFont typeface="Arial" panose="020B0604020202020204" pitchFamily="34" charset="0"/>
              <a:buChar char="•"/>
            </a:pPr>
            <a:r>
              <a:rPr lang="en-IN" sz="1600" dirty="0"/>
              <a:t>Final output is a clean knowledge graph of relationships.</a:t>
            </a:r>
          </a:p>
        </p:txBody>
      </p:sp>
      <p:pic>
        <p:nvPicPr>
          <p:cNvPr id="7" name="Picture 6">
            <a:extLst>
              <a:ext uri="{FF2B5EF4-FFF2-40B4-BE49-F238E27FC236}">
                <a16:creationId xmlns:a16="http://schemas.microsoft.com/office/drawing/2014/main" id="{E8DB69B9-0AC0-5B3E-166D-F0FA38551CA8}"/>
              </a:ext>
            </a:extLst>
          </p:cNvPr>
          <p:cNvPicPr>
            <a:picLocks noChangeAspect="1"/>
          </p:cNvPicPr>
          <p:nvPr/>
        </p:nvPicPr>
        <p:blipFill>
          <a:blip r:embed="rId2">
            <a:extLst>
              <a:ext uri="{28A0092B-C50C-407E-A947-70E740481C1C}">
                <a14:useLocalDpi xmlns:a14="http://schemas.microsoft.com/office/drawing/2010/main" val="0"/>
              </a:ext>
            </a:extLst>
          </a:blip>
          <a:srcRect r="24214"/>
          <a:stretch>
            <a:fillRect/>
          </a:stretch>
        </p:blipFill>
        <p:spPr>
          <a:xfrm>
            <a:off x="8359825" y="1358341"/>
            <a:ext cx="3117800" cy="2652985"/>
          </a:xfrm>
          <a:prstGeom prst="rect">
            <a:avLst/>
          </a:prstGeom>
        </p:spPr>
      </p:pic>
      <p:pic>
        <p:nvPicPr>
          <p:cNvPr id="8" name="Picture 7">
            <a:extLst>
              <a:ext uri="{FF2B5EF4-FFF2-40B4-BE49-F238E27FC236}">
                <a16:creationId xmlns:a16="http://schemas.microsoft.com/office/drawing/2014/main" id="{4AECD6CB-43E6-FCC9-9DB1-B5EC6663AD92}"/>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8359824" y="4010025"/>
            <a:ext cx="3117801" cy="2652985"/>
          </a:xfrm>
          <a:prstGeom prst="rect">
            <a:avLst/>
          </a:prstGeom>
        </p:spPr>
      </p:pic>
    </p:spTree>
    <p:extLst>
      <p:ext uri="{BB962C8B-B14F-4D97-AF65-F5344CB8AC3E}">
        <p14:creationId xmlns:p14="http://schemas.microsoft.com/office/powerpoint/2010/main" val="8237710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CA1DA-5EEF-A9AE-0727-53C30B3C89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4FF179-7C86-446B-D4E4-E77DC319FD49}"/>
              </a:ext>
            </a:extLst>
          </p:cNvPr>
          <p:cNvSpPr>
            <a:spLocks noGrp="1"/>
          </p:cNvSpPr>
          <p:nvPr>
            <p:ph type="title"/>
          </p:nvPr>
        </p:nvSpPr>
        <p:spPr>
          <a:xfrm>
            <a:off x="1763982" y="624109"/>
            <a:ext cx="8911687" cy="607531"/>
          </a:xfrm>
        </p:spPr>
        <p:txBody>
          <a:bodyPr>
            <a:normAutofit fontScale="90000"/>
          </a:bodyPr>
          <a:lstStyle/>
          <a:p>
            <a:r>
              <a:rPr lang="en-IN" dirty="0"/>
              <a:t>Final Outputs</a:t>
            </a:r>
          </a:p>
        </p:txBody>
      </p:sp>
      <p:pic>
        <p:nvPicPr>
          <p:cNvPr id="7" name="Content Placeholder 6">
            <a:extLst>
              <a:ext uri="{FF2B5EF4-FFF2-40B4-BE49-F238E27FC236}">
                <a16:creationId xmlns:a16="http://schemas.microsoft.com/office/drawing/2014/main" id="{6EAA79AC-34C8-FF3C-1058-3EC78DE62D5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81100" y="3986241"/>
            <a:ext cx="4534674" cy="2442940"/>
          </a:xfrm>
          <a:ln>
            <a:solidFill>
              <a:schemeClr val="tx1"/>
            </a:solidFill>
          </a:ln>
        </p:spPr>
      </p:pic>
      <p:pic>
        <p:nvPicPr>
          <p:cNvPr id="5" name="Picture 4">
            <a:extLst>
              <a:ext uri="{FF2B5EF4-FFF2-40B4-BE49-F238E27FC236}">
                <a16:creationId xmlns:a16="http://schemas.microsoft.com/office/drawing/2014/main" id="{2B33A4B0-AB04-A6A3-9884-A9F3FA078E36}"/>
              </a:ext>
            </a:extLst>
          </p:cNvPr>
          <p:cNvPicPr>
            <a:picLocks noChangeAspect="1"/>
          </p:cNvPicPr>
          <p:nvPr/>
        </p:nvPicPr>
        <p:blipFill>
          <a:blip r:embed="rId3"/>
          <a:stretch>
            <a:fillRect/>
          </a:stretch>
        </p:blipFill>
        <p:spPr>
          <a:xfrm>
            <a:off x="1181100" y="1406977"/>
            <a:ext cx="4533900" cy="2403927"/>
          </a:xfrm>
          <a:prstGeom prst="rect">
            <a:avLst/>
          </a:prstGeom>
          <a:ln>
            <a:solidFill>
              <a:schemeClr val="tx1"/>
            </a:solidFill>
          </a:ln>
        </p:spPr>
      </p:pic>
      <p:sp>
        <p:nvSpPr>
          <p:cNvPr id="8" name="TextBox 7">
            <a:extLst>
              <a:ext uri="{FF2B5EF4-FFF2-40B4-BE49-F238E27FC236}">
                <a16:creationId xmlns:a16="http://schemas.microsoft.com/office/drawing/2014/main" id="{81CE2DB7-A96A-26C0-ADA1-F8285E0C6CBB}"/>
              </a:ext>
            </a:extLst>
          </p:cNvPr>
          <p:cNvSpPr txBox="1"/>
          <p:nvPr/>
        </p:nvSpPr>
        <p:spPr>
          <a:xfrm>
            <a:off x="6019800" y="1231640"/>
            <a:ext cx="5991225" cy="5298886"/>
          </a:xfrm>
          <a:prstGeom prst="rect">
            <a:avLst/>
          </a:prstGeom>
          <a:noFill/>
        </p:spPr>
        <p:txBody>
          <a:bodyPr wrap="square" rtlCol="0">
            <a:spAutoFit/>
          </a:bodyPr>
          <a:lstStyle/>
          <a:p>
            <a:pPr>
              <a:spcAft>
                <a:spcPts val="500"/>
              </a:spcAft>
            </a:pPr>
            <a:r>
              <a:rPr lang="en-IN" sz="1400" b="1" dirty="0"/>
              <a:t>Fig 1. Extracted Entries:</a:t>
            </a:r>
          </a:p>
          <a:p>
            <a:pPr marL="285750" indent="-285750">
              <a:spcAft>
                <a:spcPts val="500"/>
              </a:spcAft>
              <a:buFont typeface="Wingdings" panose="05000000000000000000" pitchFamily="2" charset="2"/>
              <a:buChar char="§"/>
            </a:pPr>
            <a:r>
              <a:rPr lang="en-IN" sz="1400" dirty="0"/>
              <a:t>Shows the final list of all entities extracted from the PDF.</a:t>
            </a:r>
          </a:p>
          <a:p>
            <a:pPr marL="285750" indent="-285750">
              <a:spcAft>
                <a:spcPts val="500"/>
              </a:spcAft>
              <a:buFont typeface="Wingdings" panose="05000000000000000000" pitchFamily="2" charset="2"/>
              <a:buChar char="§"/>
            </a:pPr>
            <a:r>
              <a:rPr lang="en-IN" sz="1400" dirty="0"/>
              <a:t>Each row contains a </a:t>
            </a:r>
            <a:r>
              <a:rPr lang="en-IN" sz="1400" b="1" dirty="0"/>
              <a:t>person’s full name, email, and organization</a:t>
            </a:r>
            <a:r>
              <a:rPr lang="en-IN" sz="1400" dirty="0"/>
              <a:t>.</a:t>
            </a:r>
          </a:p>
          <a:p>
            <a:pPr marL="285750" indent="-285750">
              <a:spcAft>
                <a:spcPts val="500"/>
              </a:spcAft>
              <a:buFont typeface="Wingdings" panose="05000000000000000000" pitchFamily="2" charset="2"/>
              <a:buChar char="§"/>
            </a:pPr>
            <a:r>
              <a:rPr lang="en-IN" sz="1400" dirty="0"/>
              <a:t>Duplicate entries have been removed to ensure uniqueness.</a:t>
            </a:r>
          </a:p>
          <a:p>
            <a:pPr marL="285750" indent="-285750">
              <a:spcAft>
                <a:spcPts val="500"/>
              </a:spcAft>
              <a:buFont typeface="Wingdings" panose="05000000000000000000" pitchFamily="2" charset="2"/>
              <a:buChar char="§"/>
            </a:pPr>
            <a:r>
              <a:rPr lang="en-IN" sz="1400" dirty="0"/>
              <a:t>Preprocessing cleaned unwanted lines and headers from the PDF.</a:t>
            </a:r>
          </a:p>
          <a:p>
            <a:pPr marL="285750" indent="-285750">
              <a:spcAft>
                <a:spcPts val="500"/>
              </a:spcAft>
              <a:buFont typeface="Wingdings" panose="05000000000000000000" pitchFamily="2" charset="2"/>
              <a:buChar char="§"/>
            </a:pPr>
            <a:r>
              <a:rPr lang="en-IN" sz="1400" dirty="0"/>
              <a:t>This text output confirms that entity extraction is </a:t>
            </a:r>
            <a:r>
              <a:rPr lang="en-IN" sz="1400" b="1" dirty="0"/>
              <a:t>accurate and complete</a:t>
            </a:r>
            <a:r>
              <a:rPr lang="en-IN" sz="1400" dirty="0"/>
              <a:t>.</a:t>
            </a:r>
          </a:p>
          <a:p>
            <a:pPr>
              <a:spcAft>
                <a:spcPts val="500"/>
              </a:spcAft>
            </a:pPr>
            <a:endParaRPr lang="en-IN" sz="1400" dirty="0"/>
          </a:p>
          <a:p>
            <a:pPr>
              <a:spcAft>
                <a:spcPts val="500"/>
              </a:spcAft>
            </a:pPr>
            <a:r>
              <a:rPr lang="en-IN" sz="1400" b="1" dirty="0"/>
              <a:t>Fig 2. Knowledge Graph – Largest Org First, Custom Vertical Layer:</a:t>
            </a:r>
          </a:p>
          <a:p>
            <a:pPr marL="171450" indent="-171450">
              <a:spcAft>
                <a:spcPts val="500"/>
              </a:spcAft>
              <a:buFont typeface="Wingdings" panose="05000000000000000000" pitchFamily="2" charset="2"/>
              <a:buChar char="§"/>
            </a:pPr>
            <a:r>
              <a:rPr lang="en-IN" sz="1400" dirty="0"/>
              <a:t>Visualizes the knowledge graph after </a:t>
            </a:r>
            <a:r>
              <a:rPr lang="en-IN" sz="1400" b="1" dirty="0"/>
              <a:t>sorting orgs. by size</a:t>
            </a:r>
            <a:r>
              <a:rPr lang="en-IN" sz="1400" dirty="0"/>
              <a:t>.</a:t>
            </a:r>
          </a:p>
          <a:p>
            <a:pPr marL="171450" indent="-171450">
              <a:spcAft>
                <a:spcPts val="500"/>
              </a:spcAft>
              <a:buFont typeface="Wingdings" panose="05000000000000000000" pitchFamily="2" charset="2"/>
              <a:buChar char="§"/>
            </a:pPr>
            <a:r>
              <a:rPr lang="en-IN" sz="1400" dirty="0"/>
              <a:t>Largest organization (</a:t>
            </a:r>
            <a:r>
              <a:rPr lang="en-IN" sz="1400" dirty="0" err="1"/>
              <a:t>NeuralForge</a:t>
            </a:r>
            <a:r>
              <a:rPr lang="en-IN" sz="1400" dirty="0"/>
              <a:t>) appears first, on the left.</a:t>
            </a:r>
          </a:p>
          <a:p>
            <a:pPr marL="171450" indent="-171450">
              <a:spcAft>
                <a:spcPts val="500"/>
              </a:spcAft>
              <a:buFont typeface="Wingdings" panose="05000000000000000000" pitchFamily="2" charset="2"/>
              <a:buChar char="§"/>
            </a:pPr>
            <a:r>
              <a:rPr lang="en-IN" sz="1400" dirty="0"/>
              <a:t>Other smaller orgs. are placed sequentially to the right.</a:t>
            </a:r>
          </a:p>
          <a:p>
            <a:pPr marL="171450" indent="-171450">
              <a:spcAft>
                <a:spcPts val="500"/>
              </a:spcAft>
              <a:buFont typeface="Wingdings" panose="05000000000000000000" pitchFamily="2" charset="2"/>
              <a:buChar char="§"/>
            </a:pPr>
            <a:r>
              <a:rPr lang="en-IN" sz="1400" dirty="0"/>
              <a:t>Nodes are stacked vertically: </a:t>
            </a:r>
            <a:r>
              <a:rPr lang="en-IN" sz="1400" b="1" dirty="0"/>
              <a:t>Organization - Person - Email</a:t>
            </a:r>
            <a:r>
              <a:rPr lang="en-IN" sz="1400" dirty="0"/>
              <a:t>, improving readability.</a:t>
            </a:r>
          </a:p>
          <a:p>
            <a:pPr marL="171450" indent="-171450">
              <a:spcAft>
                <a:spcPts val="500"/>
              </a:spcAft>
              <a:buFont typeface="Wingdings" panose="05000000000000000000" pitchFamily="2" charset="2"/>
              <a:buChar char="§"/>
            </a:pPr>
            <a:r>
              <a:rPr lang="en-IN" sz="1400" dirty="0"/>
              <a:t>Dynamic horizontal spacing prevents overlapping nodes and edges.</a:t>
            </a:r>
          </a:p>
          <a:p>
            <a:pPr marL="171450" indent="-171450">
              <a:spcAft>
                <a:spcPts val="500"/>
              </a:spcAft>
              <a:buFont typeface="Wingdings" panose="05000000000000000000" pitchFamily="2" charset="2"/>
              <a:buChar char="§"/>
            </a:pPr>
            <a:r>
              <a:rPr lang="en-IN" sz="1400" dirty="0"/>
              <a:t>Labels are wrapped to ensure </a:t>
            </a:r>
            <a:r>
              <a:rPr lang="en-IN" sz="1400" b="1" dirty="0"/>
              <a:t>names and emails fit inside nodes</a:t>
            </a:r>
            <a:r>
              <a:rPr lang="en-IN" sz="1400" dirty="0"/>
              <a:t>.</a:t>
            </a:r>
          </a:p>
          <a:p>
            <a:pPr marL="171450" indent="-171450">
              <a:spcAft>
                <a:spcPts val="500"/>
              </a:spcAft>
              <a:buFont typeface="Wingdings" panose="05000000000000000000" pitchFamily="2" charset="2"/>
              <a:buChar char="§"/>
            </a:pPr>
            <a:r>
              <a:rPr lang="en-IN" sz="1400" dirty="0"/>
              <a:t>Graph is clean, easy to follow, and clearly shows relationships.</a:t>
            </a:r>
          </a:p>
        </p:txBody>
      </p:sp>
    </p:spTree>
    <p:extLst>
      <p:ext uri="{BB962C8B-B14F-4D97-AF65-F5344CB8AC3E}">
        <p14:creationId xmlns:p14="http://schemas.microsoft.com/office/powerpoint/2010/main" val="23172749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85A625-C372-B468-C841-66FCA808B9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1CDD19-A3DD-C9F3-E695-8BA59A713A7D}"/>
              </a:ext>
            </a:extLst>
          </p:cNvPr>
          <p:cNvSpPr>
            <a:spLocks noGrp="1"/>
          </p:cNvSpPr>
          <p:nvPr>
            <p:ph type="title"/>
          </p:nvPr>
        </p:nvSpPr>
        <p:spPr>
          <a:xfrm>
            <a:off x="1763982" y="624109"/>
            <a:ext cx="8911687" cy="607531"/>
          </a:xfrm>
        </p:spPr>
        <p:txBody>
          <a:bodyPr>
            <a:normAutofit fontScale="90000"/>
          </a:bodyPr>
          <a:lstStyle/>
          <a:p>
            <a:r>
              <a:rPr lang="en-IN" dirty="0"/>
              <a:t>Output Comparison Layouts</a:t>
            </a:r>
          </a:p>
        </p:txBody>
      </p:sp>
      <p:pic>
        <p:nvPicPr>
          <p:cNvPr id="7" name="Content Placeholder 6">
            <a:extLst>
              <a:ext uri="{FF2B5EF4-FFF2-40B4-BE49-F238E27FC236}">
                <a16:creationId xmlns:a16="http://schemas.microsoft.com/office/drawing/2014/main" id="{CEDE9BD8-C766-E072-A996-936E6AC539DB}"/>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1189851" y="4071966"/>
            <a:ext cx="4534674" cy="2442940"/>
          </a:xfrm>
          <a:ln>
            <a:solidFill>
              <a:schemeClr val="tx1"/>
            </a:solidFill>
          </a:ln>
        </p:spPr>
      </p:pic>
      <p:pic>
        <p:nvPicPr>
          <p:cNvPr id="5" name="Picture 4">
            <a:extLst>
              <a:ext uri="{FF2B5EF4-FFF2-40B4-BE49-F238E27FC236}">
                <a16:creationId xmlns:a16="http://schemas.microsoft.com/office/drawing/2014/main" id="{C3C01EF8-B803-42B0-2F44-E39BB5009EF7}"/>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190625" y="1467201"/>
            <a:ext cx="4533900" cy="2283479"/>
          </a:xfrm>
          <a:prstGeom prst="rect">
            <a:avLst/>
          </a:prstGeom>
          <a:ln>
            <a:solidFill>
              <a:schemeClr val="tx1"/>
            </a:solidFill>
          </a:ln>
        </p:spPr>
      </p:pic>
      <p:sp>
        <p:nvSpPr>
          <p:cNvPr id="8" name="TextBox 7">
            <a:extLst>
              <a:ext uri="{FF2B5EF4-FFF2-40B4-BE49-F238E27FC236}">
                <a16:creationId xmlns:a16="http://schemas.microsoft.com/office/drawing/2014/main" id="{93E340E2-3435-1A3C-2382-2F40CF3ED383}"/>
              </a:ext>
            </a:extLst>
          </p:cNvPr>
          <p:cNvSpPr txBox="1"/>
          <p:nvPr/>
        </p:nvSpPr>
        <p:spPr>
          <a:xfrm>
            <a:off x="6029325" y="1310755"/>
            <a:ext cx="5743574" cy="4739759"/>
          </a:xfrm>
          <a:prstGeom prst="rect">
            <a:avLst/>
          </a:prstGeom>
          <a:noFill/>
        </p:spPr>
        <p:txBody>
          <a:bodyPr wrap="square" rtlCol="0">
            <a:spAutoFit/>
          </a:bodyPr>
          <a:lstStyle/>
          <a:p>
            <a:pPr>
              <a:spcAft>
                <a:spcPts val="500"/>
              </a:spcAft>
            </a:pPr>
            <a:r>
              <a:rPr lang="en-IN" sz="1400" b="1" dirty="0"/>
              <a:t>Fig 3. Default Layout (Spring Layout):</a:t>
            </a:r>
          </a:p>
          <a:p>
            <a:pPr marL="285750" indent="-285750">
              <a:spcAft>
                <a:spcPts val="500"/>
              </a:spcAft>
              <a:buFont typeface="Wingdings" panose="05000000000000000000" pitchFamily="2" charset="2"/>
              <a:buChar char="§"/>
            </a:pPr>
            <a:r>
              <a:rPr lang="en-IN" sz="1400" dirty="0"/>
              <a:t>Graph generated using </a:t>
            </a:r>
            <a:r>
              <a:rPr lang="en-IN" sz="1400" b="1" dirty="0"/>
              <a:t>NetworkX’s default spring layout</a:t>
            </a:r>
            <a:r>
              <a:rPr lang="en-IN" sz="1400" dirty="0"/>
              <a:t>.</a:t>
            </a:r>
          </a:p>
          <a:p>
            <a:pPr marL="285750" indent="-285750">
              <a:spcAft>
                <a:spcPts val="500"/>
              </a:spcAft>
              <a:buFont typeface="Wingdings" panose="05000000000000000000" pitchFamily="2" charset="2"/>
              <a:buChar char="§"/>
            </a:pPr>
            <a:r>
              <a:rPr lang="en-IN" sz="1400" dirty="0"/>
              <a:t>Nodes are automatically placed based on force-directed simulation.</a:t>
            </a:r>
          </a:p>
          <a:p>
            <a:pPr marL="285750" indent="-285750">
              <a:spcAft>
                <a:spcPts val="500"/>
              </a:spcAft>
              <a:buFont typeface="Wingdings" panose="05000000000000000000" pitchFamily="2" charset="2"/>
              <a:buChar char="§"/>
            </a:pPr>
            <a:r>
              <a:rPr lang="en-IN" sz="1400" dirty="0"/>
              <a:t>Graph appears cluttered with overlapping nodes and edges.</a:t>
            </a:r>
          </a:p>
          <a:p>
            <a:pPr marL="285750" indent="-285750">
              <a:spcAft>
                <a:spcPts val="500"/>
              </a:spcAft>
              <a:buFont typeface="Wingdings" panose="05000000000000000000" pitchFamily="2" charset="2"/>
              <a:buChar char="§"/>
            </a:pPr>
            <a:r>
              <a:rPr lang="en-IN" sz="1400" dirty="0"/>
              <a:t>Labels are difficult to read, especially for organizations with many members.</a:t>
            </a:r>
          </a:p>
          <a:p>
            <a:pPr marL="285750" indent="-285750">
              <a:spcAft>
                <a:spcPts val="500"/>
              </a:spcAft>
              <a:buFont typeface="Wingdings" panose="05000000000000000000" pitchFamily="2" charset="2"/>
              <a:buChar char="§"/>
            </a:pPr>
            <a:r>
              <a:rPr lang="en-IN" sz="1400" dirty="0"/>
              <a:t>Shows why a custom layout was necessary for clarity.</a:t>
            </a:r>
          </a:p>
          <a:p>
            <a:pPr>
              <a:spcAft>
                <a:spcPts val="500"/>
              </a:spcAft>
            </a:pPr>
            <a:endParaRPr lang="en-IN" sz="1400" dirty="0"/>
          </a:p>
          <a:p>
            <a:pPr>
              <a:spcAft>
                <a:spcPts val="500"/>
              </a:spcAft>
            </a:pPr>
            <a:endParaRPr lang="en-IN" sz="1400" dirty="0"/>
          </a:p>
          <a:p>
            <a:pPr>
              <a:spcAft>
                <a:spcPts val="500"/>
              </a:spcAft>
            </a:pPr>
            <a:r>
              <a:rPr lang="en-IN" sz="1400" b="1" dirty="0"/>
              <a:t>Fig 4. Vertical Layout (1</a:t>
            </a:r>
            <a:r>
              <a:rPr lang="en-IN" sz="1400" b="1" baseline="30000" dirty="0"/>
              <a:t>st</a:t>
            </a:r>
            <a:r>
              <a:rPr lang="en-IN" sz="1400" b="1" dirty="0"/>
              <a:t> version):</a:t>
            </a:r>
          </a:p>
          <a:p>
            <a:pPr marL="285750" indent="-285750">
              <a:spcAft>
                <a:spcPts val="500"/>
              </a:spcAft>
              <a:buFont typeface="Wingdings" panose="05000000000000000000" pitchFamily="2" charset="2"/>
              <a:buChar char="§"/>
            </a:pPr>
            <a:r>
              <a:rPr lang="en-IN" sz="1400" dirty="0"/>
              <a:t>First version of vertical layout without wrapping labels and sorting organizations by size.</a:t>
            </a:r>
          </a:p>
          <a:p>
            <a:pPr marL="285750" indent="-285750">
              <a:spcAft>
                <a:spcPts val="500"/>
              </a:spcAft>
              <a:buFont typeface="Wingdings" panose="05000000000000000000" pitchFamily="2" charset="2"/>
              <a:buChar char="§"/>
            </a:pPr>
            <a:r>
              <a:rPr lang="en-IN" sz="1400" dirty="0"/>
              <a:t>Nodes stacked vertically, but spacing is inconsistent.</a:t>
            </a:r>
          </a:p>
          <a:p>
            <a:pPr marL="285750" indent="-285750">
              <a:spcAft>
                <a:spcPts val="500"/>
              </a:spcAft>
              <a:buFont typeface="Wingdings" panose="05000000000000000000" pitchFamily="2" charset="2"/>
              <a:buChar char="§"/>
            </a:pPr>
            <a:r>
              <a:rPr lang="en-IN" sz="1400" dirty="0"/>
              <a:t>Some connections are buried under overlapping nodes.</a:t>
            </a:r>
          </a:p>
          <a:p>
            <a:pPr marL="285750" indent="-285750">
              <a:spcAft>
                <a:spcPts val="500"/>
              </a:spcAft>
              <a:buFont typeface="Wingdings" panose="05000000000000000000" pitchFamily="2" charset="2"/>
              <a:buChar char="§"/>
            </a:pPr>
            <a:r>
              <a:rPr lang="en-IN" sz="1400" dirty="0"/>
              <a:t>It shows the need for adjusting dynamic spacing for improved readability and understandability</a:t>
            </a:r>
          </a:p>
        </p:txBody>
      </p:sp>
    </p:spTree>
    <p:extLst>
      <p:ext uri="{BB962C8B-B14F-4D97-AF65-F5344CB8AC3E}">
        <p14:creationId xmlns:p14="http://schemas.microsoft.com/office/powerpoint/2010/main" val="1370823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02A290-B04C-563B-C4B8-98AD4FFCD9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088858-8E9B-CEE8-9E53-F12F1BD74597}"/>
              </a:ext>
            </a:extLst>
          </p:cNvPr>
          <p:cNvSpPr>
            <a:spLocks noGrp="1"/>
          </p:cNvSpPr>
          <p:nvPr>
            <p:ph type="title"/>
          </p:nvPr>
        </p:nvSpPr>
        <p:spPr>
          <a:xfrm>
            <a:off x="2592925" y="624110"/>
            <a:ext cx="8911687" cy="607531"/>
          </a:xfrm>
        </p:spPr>
        <p:txBody>
          <a:bodyPr>
            <a:normAutofit fontScale="90000"/>
          </a:bodyPr>
          <a:lstStyle/>
          <a:p>
            <a:r>
              <a:rPr lang="en-IN" dirty="0"/>
              <a:t>Considerations</a:t>
            </a:r>
          </a:p>
        </p:txBody>
      </p:sp>
      <p:sp>
        <p:nvSpPr>
          <p:cNvPr id="3" name="Content Placeholder 2">
            <a:extLst>
              <a:ext uri="{FF2B5EF4-FFF2-40B4-BE49-F238E27FC236}">
                <a16:creationId xmlns:a16="http://schemas.microsoft.com/office/drawing/2014/main" id="{A5DE5719-E858-2CB6-4A5D-482CEF0300F9}"/>
              </a:ext>
            </a:extLst>
          </p:cNvPr>
          <p:cNvSpPr>
            <a:spLocks noGrp="1"/>
          </p:cNvSpPr>
          <p:nvPr>
            <p:ph idx="1"/>
          </p:nvPr>
        </p:nvSpPr>
        <p:spPr>
          <a:xfrm>
            <a:off x="2589212" y="1658471"/>
            <a:ext cx="8915400" cy="4575419"/>
          </a:xfrm>
        </p:spPr>
        <p:txBody>
          <a:bodyPr/>
          <a:lstStyle/>
          <a:p>
            <a:pPr>
              <a:buFont typeface="Wingdings" panose="05000000000000000000" pitchFamily="2" charset="2"/>
              <a:buChar char="v"/>
            </a:pPr>
            <a:r>
              <a:rPr lang="en-IN" dirty="0"/>
              <a:t>PDF documents contain noisy formatting and mixed layouts, making structured extraction difficult.</a:t>
            </a:r>
          </a:p>
          <a:p>
            <a:pPr>
              <a:buFont typeface="Wingdings" panose="05000000000000000000" pitchFamily="2" charset="2"/>
              <a:buChar char="v"/>
            </a:pPr>
            <a:r>
              <a:rPr lang="en-IN" dirty="0"/>
              <a:t>Table-based extraction is unreliable when tables span multiple pages, so a text-based regex approach was chosen.</a:t>
            </a:r>
          </a:p>
          <a:p>
            <a:pPr>
              <a:buFont typeface="Wingdings" panose="05000000000000000000" pitchFamily="2" charset="2"/>
              <a:buChar char="v"/>
            </a:pPr>
            <a:r>
              <a:rPr lang="en-IN" dirty="0"/>
              <a:t>Open-source libraries such as </a:t>
            </a:r>
            <a:r>
              <a:rPr lang="en-IN" dirty="0" err="1"/>
              <a:t>pdfplumber</a:t>
            </a:r>
            <a:r>
              <a:rPr lang="en-IN" dirty="0"/>
              <a:t> and </a:t>
            </a:r>
            <a:r>
              <a:rPr lang="en-IN" dirty="0" err="1"/>
              <a:t>NetworkX</a:t>
            </a:r>
            <a:r>
              <a:rPr lang="en-IN" dirty="0"/>
              <a:t> provide flexibility but require custom preprocessing and layout control.</a:t>
            </a:r>
          </a:p>
          <a:p>
            <a:pPr>
              <a:buFont typeface="Wingdings" panose="05000000000000000000" pitchFamily="2" charset="2"/>
              <a:buChar char="v"/>
            </a:pPr>
            <a:r>
              <a:rPr lang="en-IN" dirty="0"/>
              <a:t>Metadata quality directly affects graph accuracy, so duplicate filtering and text cleaning were essential.</a:t>
            </a:r>
          </a:p>
          <a:p>
            <a:pPr>
              <a:buFont typeface="Wingdings" panose="05000000000000000000" pitchFamily="2" charset="2"/>
              <a:buChar char="v"/>
            </a:pPr>
            <a:r>
              <a:rPr lang="en-IN" dirty="0"/>
              <a:t>A modular workflow ensures that extraction, graph construction, and visualization can run independently.</a:t>
            </a:r>
          </a:p>
          <a:p>
            <a:pPr>
              <a:buFont typeface="Wingdings" panose="05000000000000000000" pitchFamily="2" charset="2"/>
              <a:buChar char="v"/>
            </a:pPr>
            <a:r>
              <a:rPr lang="en-IN" dirty="0"/>
              <a:t>Dynamic layout was necessary to prevent node overlap when organizations have different numbers of members.</a:t>
            </a:r>
          </a:p>
        </p:txBody>
      </p:sp>
    </p:spTree>
    <p:extLst>
      <p:ext uri="{BB962C8B-B14F-4D97-AF65-F5344CB8AC3E}">
        <p14:creationId xmlns:p14="http://schemas.microsoft.com/office/powerpoint/2010/main" val="39265381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012E93-13DD-8EF1-EEA7-C6510D2FEA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5B4FA3-8D52-67EC-B067-37142629A12D}"/>
              </a:ext>
            </a:extLst>
          </p:cNvPr>
          <p:cNvSpPr>
            <a:spLocks noGrp="1"/>
          </p:cNvSpPr>
          <p:nvPr>
            <p:ph type="title"/>
          </p:nvPr>
        </p:nvSpPr>
        <p:spPr>
          <a:xfrm>
            <a:off x="2592925" y="624110"/>
            <a:ext cx="8911687" cy="607531"/>
          </a:xfrm>
        </p:spPr>
        <p:txBody>
          <a:bodyPr>
            <a:normAutofit fontScale="90000"/>
          </a:bodyPr>
          <a:lstStyle/>
          <a:p>
            <a:r>
              <a:rPr lang="en-IN" dirty="0"/>
              <a:t>Future Development</a:t>
            </a:r>
          </a:p>
        </p:txBody>
      </p:sp>
      <p:sp>
        <p:nvSpPr>
          <p:cNvPr id="3" name="Content Placeholder 2">
            <a:extLst>
              <a:ext uri="{FF2B5EF4-FFF2-40B4-BE49-F238E27FC236}">
                <a16:creationId xmlns:a16="http://schemas.microsoft.com/office/drawing/2014/main" id="{CCC1591E-BD39-D3F4-55B0-45B6C840C6C9}"/>
              </a:ext>
            </a:extLst>
          </p:cNvPr>
          <p:cNvSpPr>
            <a:spLocks noGrp="1"/>
          </p:cNvSpPr>
          <p:nvPr>
            <p:ph idx="1"/>
          </p:nvPr>
        </p:nvSpPr>
        <p:spPr>
          <a:xfrm>
            <a:off x="2589212" y="1658471"/>
            <a:ext cx="8915400" cy="3046879"/>
          </a:xfrm>
        </p:spPr>
        <p:txBody>
          <a:bodyPr/>
          <a:lstStyle/>
          <a:p>
            <a:r>
              <a:rPr lang="en-IN" dirty="0"/>
              <a:t>Extend entity extraction to include additional attributes such as roles and other required entities.</a:t>
            </a:r>
          </a:p>
          <a:p>
            <a:r>
              <a:rPr lang="en-IN" dirty="0"/>
              <a:t>Apply Named Entity Recognition (NER) models for more accurate semantic extraction.</a:t>
            </a:r>
          </a:p>
          <a:p>
            <a:r>
              <a:rPr lang="en-IN" dirty="0"/>
              <a:t>Store the knowledge graph in a graph database such as Neo4j for interactive querying.</a:t>
            </a:r>
          </a:p>
          <a:p>
            <a:r>
              <a:rPr lang="en-IN" dirty="0"/>
              <a:t>Replace static visualization with an interactive web-based graph explorer.</a:t>
            </a:r>
          </a:p>
          <a:p>
            <a:r>
              <a:rPr lang="en-IN" dirty="0"/>
              <a:t>Add automated validation to detect incorrect or incomplete entity links.</a:t>
            </a:r>
          </a:p>
        </p:txBody>
      </p:sp>
    </p:spTree>
    <p:extLst>
      <p:ext uri="{BB962C8B-B14F-4D97-AF65-F5344CB8AC3E}">
        <p14:creationId xmlns:p14="http://schemas.microsoft.com/office/powerpoint/2010/main" val="36228913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CE3BC9-CB86-8BC6-4DB4-1E9677A913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2D7E99-E857-D35B-251F-CD5DA954671C}"/>
              </a:ext>
            </a:extLst>
          </p:cNvPr>
          <p:cNvSpPr>
            <a:spLocks noGrp="1"/>
          </p:cNvSpPr>
          <p:nvPr>
            <p:ph type="title"/>
          </p:nvPr>
        </p:nvSpPr>
        <p:spPr>
          <a:xfrm>
            <a:off x="2592925" y="624110"/>
            <a:ext cx="8911687" cy="607531"/>
          </a:xfrm>
        </p:spPr>
        <p:txBody>
          <a:bodyPr>
            <a:normAutofit fontScale="90000"/>
          </a:bodyPr>
          <a:lstStyle/>
          <a:p>
            <a:r>
              <a:rPr lang="en-IN" dirty="0"/>
              <a:t>Conclusion</a:t>
            </a:r>
          </a:p>
        </p:txBody>
      </p:sp>
      <p:sp>
        <p:nvSpPr>
          <p:cNvPr id="4" name="Rectangle 1">
            <a:extLst>
              <a:ext uri="{FF2B5EF4-FFF2-40B4-BE49-F238E27FC236}">
                <a16:creationId xmlns:a16="http://schemas.microsoft.com/office/drawing/2014/main" id="{9191A5D9-D704-8F33-F82E-E34D9002515A}"/>
              </a:ext>
            </a:extLst>
          </p:cNvPr>
          <p:cNvSpPr>
            <a:spLocks noGrp="1" noChangeArrowheads="1"/>
          </p:cNvSpPr>
          <p:nvPr>
            <p:ph idx="1"/>
          </p:nvPr>
        </p:nvSpPr>
        <p:spPr bwMode="auto">
          <a:xfrm>
            <a:off x="2592925" y="1330253"/>
            <a:ext cx="8774322" cy="5006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spcAft>
                <a:spcPts val="600"/>
              </a:spcAft>
            </a:pPr>
            <a:r>
              <a:rPr lang="en-IN" sz="1700" dirty="0"/>
              <a:t>Our project successfully demonstrates a complete pipeline for extracting structured information from an unstructured PDF and representing it as a knowledge graph. Using PDF text extraction, preprocessing, and pattern-based entity detection, the system accurately identified people, their email addresses, and associated organizations, even when the document contained tables spanning multiple pages or noisy correspondence lines. The extracted entities were transformed into a graph with nodes and edges, showing clear relationships between individuals and organizations.</a:t>
            </a:r>
          </a:p>
          <a:p>
            <a:pPr>
              <a:spcAft>
                <a:spcPts val="600"/>
              </a:spcAft>
            </a:pPr>
            <a:r>
              <a:rPr lang="en-IN" sz="1700" dirty="0"/>
              <a:t>A custom vertical layout with dynamic spacing and largest-organization-first ordering ensured the graph remained readable, preventing overlapping nodes and maintaining a clear hierarchy with organizations at the top, people in the middle, and emails at the bottom. The modular design allows each stage: extraction, entity detection, graph construction, and visualization to run independently, making the pipeline scalable and easy to extend. This approach can be further improved by including additional entity types, such as roles, or using interactive visualization tools like Neo4j, demonstrating a practical and robust solution for converting unstructured text into interpretable knowledge.</a:t>
            </a:r>
          </a:p>
        </p:txBody>
      </p:sp>
    </p:spTree>
    <p:extLst>
      <p:ext uri="{BB962C8B-B14F-4D97-AF65-F5344CB8AC3E}">
        <p14:creationId xmlns:p14="http://schemas.microsoft.com/office/powerpoint/2010/main" val="13090090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323C88-BEE7-E918-5A85-03649B39CBEC}"/>
            </a:ext>
          </a:extLst>
        </p:cNvPr>
        <p:cNvGrpSpPr/>
        <p:nvPr/>
      </p:nvGrpSpPr>
      <p:grpSpPr>
        <a:xfrm>
          <a:off x="0" y="0"/>
          <a:ext cx="0" cy="0"/>
          <a:chOff x="0" y="0"/>
          <a:chExt cx="0" cy="0"/>
        </a:xfrm>
      </p:grpSpPr>
      <p:sp>
        <p:nvSpPr>
          <p:cNvPr id="14" name="TextBox 13">
            <a:extLst>
              <a:ext uri="{FF2B5EF4-FFF2-40B4-BE49-F238E27FC236}">
                <a16:creationId xmlns:a16="http://schemas.microsoft.com/office/drawing/2014/main" id="{45E9E556-285E-61C3-1441-87991A9B53C6}"/>
              </a:ext>
            </a:extLst>
          </p:cNvPr>
          <p:cNvSpPr txBox="1"/>
          <p:nvPr/>
        </p:nvSpPr>
        <p:spPr>
          <a:xfrm>
            <a:off x="2941823" y="2705725"/>
            <a:ext cx="6810375" cy="1446550"/>
          </a:xfrm>
          <a:prstGeom prst="rect">
            <a:avLst/>
          </a:prstGeom>
          <a:noFill/>
          <a:ln>
            <a:noFill/>
          </a:ln>
        </p:spPr>
        <p:txBody>
          <a:bodyPr wrap="square" rtlCol="0">
            <a:spAutoFit/>
          </a:bodyPr>
          <a:lstStyle/>
          <a:p>
            <a:r>
              <a:rPr lang="en-IN" sz="8800" i="1" dirty="0">
                <a:solidFill>
                  <a:srgbClr val="2E5369"/>
                </a:solidFill>
              </a:rPr>
              <a:t>THANK YOU!</a:t>
            </a:r>
            <a:endParaRPr lang="en-IN" sz="8800" dirty="0">
              <a:solidFill>
                <a:srgbClr val="2E5369"/>
              </a:solidFill>
            </a:endParaRPr>
          </a:p>
        </p:txBody>
      </p:sp>
    </p:spTree>
    <p:extLst>
      <p:ext uri="{BB962C8B-B14F-4D97-AF65-F5344CB8AC3E}">
        <p14:creationId xmlns:p14="http://schemas.microsoft.com/office/powerpoint/2010/main" val="3066776939"/>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2E5369"/>
      </a:dk2>
      <a:lt2>
        <a:srgbClr val="CFE2E7"/>
      </a:lt2>
      <a:accent1>
        <a:srgbClr val="353535"/>
      </a:accent1>
      <a:accent2>
        <a:srgbClr val="31B4E6"/>
      </a:accent2>
      <a:accent3>
        <a:srgbClr val="265991"/>
      </a:accent3>
      <a:accent4>
        <a:srgbClr val="7E40CC"/>
      </a:accent4>
      <a:accent5>
        <a:srgbClr val="B927E9"/>
      </a:accent5>
      <a:accent6>
        <a:srgbClr val="E833BF"/>
      </a:accent6>
      <a:hlink>
        <a:srgbClr val="2DA0F1"/>
      </a:hlink>
      <a:folHlink>
        <a:srgbClr val="7ED1E6"/>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4F34B87B-9C7A-41AE-A6CB-48536223DFFD}"/>
    </a:ext>
  </a:extLst>
</a:theme>
</file>

<file path=docProps/app.xml><?xml version="1.0" encoding="utf-8"?>
<Properties xmlns="http://schemas.openxmlformats.org/officeDocument/2006/extended-properties" xmlns:vt="http://schemas.openxmlformats.org/officeDocument/2006/docPropsVTypes">
  <Template>Wisp</Template>
  <TotalTime>470</TotalTime>
  <Words>1111</Words>
  <Application>Microsoft Office PowerPoint</Application>
  <PresentationFormat>Widescreen</PresentationFormat>
  <Paragraphs>104</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Century Gothic</vt:lpstr>
      <vt:lpstr>Wingdings</vt:lpstr>
      <vt:lpstr>Wingdings 3</vt:lpstr>
      <vt:lpstr>Wisp</vt:lpstr>
      <vt:lpstr>PDF Entity Extraction and Knowledge Graph Visualization using Python</vt:lpstr>
      <vt:lpstr>Problem Statement</vt:lpstr>
      <vt:lpstr>Project Goal &amp; Approach</vt:lpstr>
      <vt:lpstr>System Architecture</vt:lpstr>
      <vt:lpstr>Tools &amp; Libraries</vt:lpstr>
      <vt:lpstr>Code Implementation – Data Extraction</vt:lpstr>
      <vt:lpstr>Code Implementation – Graph Visualization</vt:lpstr>
      <vt:lpstr>Final Outputs</vt:lpstr>
      <vt:lpstr>Output Comparison Layouts</vt:lpstr>
      <vt:lpstr>Considerations</vt:lpstr>
      <vt:lpstr>Future Development</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Jerry Britto</dc:creator>
  <cp:lastModifiedBy>Jerry Britto</cp:lastModifiedBy>
  <cp:revision>209</cp:revision>
  <dcterms:created xsi:type="dcterms:W3CDTF">2026-02-07T11:10:12Z</dcterms:created>
  <dcterms:modified xsi:type="dcterms:W3CDTF">2026-02-08T02:42:14Z</dcterms:modified>
</cp:coreProperties>
</file>